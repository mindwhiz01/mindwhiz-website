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1113"/>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ED11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93408"/>
            <a:ext cx="12191695" cy="164592"/>
          </a:xfrm>
          <a:prstGeom prst="rect">
            <a:avLst/>
          </a:prstGeom>
          <a:solidFill>
            <a:srgbClr val="ED11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965960"/>
            <a:ext cx="10332720" cy="2377440"/>
          </a:xfrm>
          <a:prstGeom prst="rect">
            <a:avLst/>
          </a:prstGeom>
          <a:noFill/>
        </p:spPr>
        <p:txBody>
          <a:bodyPr wrap="square">
            <a:spAutoFit/>
          </a:bodyPr>
          <a:lstStyle/>
          <a:p>
            <a:pPr algn="l">
              <a:lnSpc>
                <a:spcPct val="100000"/>
              </a:lnSpc>
              <a:spcAft>
                <a:spcPts val="1000"/>
              </a:spcAft>
            </a:pPr>
            <a:r>
              <a:rPr sz="1500" b="1">
                <a:solidFill>
                  <a:srgbClr val="ED1164"/>
                </a:solidFill>
                <a:latin typeface="Calibri"/>
              </a:rPr>
              <a:t>MINDWHIZ  ·  SEO &amp; WEB PERFORMANCE</a:t>
            </a:r>
          </a:p>
          <a:p>
            <a:pPr algn="l">
              <a:lnSpc>
                <a:spcPct val="98000"/>
              </a:lnSpc>
              <a:spcAft>
                <a:spcPts val="200"/>
              </a:spcAft>
            </a:pPr>
            <a:r>
              <a:rPr sz="5200" b="1">
                <a:solidFill>
                  <a:srgbClr val="FFFFFF"/>
                </a:solidFill>
                <a:latin typeface="Calibri"/>
              </a:rPr>
              <a:t>Everything We've Done</a:t>
            </a:r>
          </a:p>
          <a:p>
            <a:pPr algn="l">
              <a:lnSpc>
                <a:spcPct val="98000"/>
              </a:lnSpc>
              <a:spcAft>
                <a:spcPts val="400"/>
              </a:spcAft>
            </a:pPr>
            <a:r>
              <a:rPr sz="5200" b="1">
                <a:solidFill>
                  <a:srgbClr val="FFFFFF"/>
                </a:solidFill>
                <a:latin typeface="Calibri"/>
              </a:rPr>
              <a:t>For The Brand</a:t>
            </a:r>
          </a:p>
        </p:txBody>
      </p:sp>
      <p:sp>
        <p:nvSpPr>
          <p:cNvPr id="5" name="TextBox 4"/>
          <p:cNvSpPr txBox="1"/>
          <p:nvPr/>
        </p:nvSpPr>
        <p:spPr>
          <a:xfrm>
            <a:off x="960120" y="4572000"/>
            <a:ext cx="10058400" cy="1280160"/>
          </a:xfrm>
          <a:prstGeom prst="rect">
            <a:avLst/>
          </a:prstGeom>
          <a:noFill/>
        </p:spPr>
        <p:txBody>
          <a:bodyPr wrap="square">
            <a:spAutoFit/>
          </a:bodyPr>
          <a:lstStyle/>
          <a:p>
            <a:pPr algn="l">
              <a:lnSpc>
                <a:spcPct val="100000"/>
              </a:lnSpc>
              <a:spcAft>
                <a:spcPts val="400"/>
              </a:spcAft>
            </a:pPr>
            <a:r>
              <a:rPr sz="1400" b="0">
                <a:solidFill>
                  <a:srgbClr val="C9BCC0"/>
                </a:solidFill>
                <a:latin typeface="Calibri"/>
              </a:rPr>
              <a:t>On-Page SEO  ·  Technical SEO  ·  AEO  ·  GEO  ·  Keyword Strategy  ·  PageSpeed  ·  Search Console</a:t>
            </a:r>
          </a:p>
          <a:p>
            <a:pPr algn="l">
              <a:lnSpc>
                <a:spcPct val="100000"/>
              </a:lnSpc>
              <a:spcAft>
                <a:spcPts val="0"/>
              </a:spcAft>
            </a:pPr>
            <a:r>
              <a:rPr sz="1200" b="0">
                <a:solidFill>
                  <a:srgbClr val="6F6265"/>
                </a:solidFill>
                <a:latin typeface="Calibri"/>
              </a:rPr>
              <a:t>www.mindwhiz.com   |   Next.js 14 · Vercel   |   Report: July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7F8"/>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ED11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881360" cy="1051560"/>
          </a:xfrm>
          <a:prstGeom prst="rect">
            <a:avLst/>
          </a:prstGeom>
          <a:noFill/>
        </p:spPr>
        <p:txBody>
          <a:bodyPr wrap="square">
            <a:spAutoFit/>
          </a:bodyPr>
          <a:lstStyle/>
          <a:p>
            <a:pPr algn="l">
              <a:lnSpc>
                <a:spcPct val="100000"/>
              </a:lnSpc>
              <a:spcAft>
                <a:spcPts val="300"/>
              </a:spcAft>
            </a:pPr>
            <a:r>
              <a:rPr sz="1200" b="1">
                <a:solidFill>
                  <a:srgbClr val="ED1164"/>
                </a:solidFill>
                <a:latin typeface="Calibri"/>
              </a:rPr>
              <a:t>OVERVIEW</a:t>
            </a:r>
          </a:p>
          <a:p>
            <a:pPr algn="l">
              <a:lnSpc>
                <a:spcPct val="100000"/>
              </a:lnSpc>
              <a:spcAft>
                <a:spcPts val="400"/>
              </a:spcAft>
            </a:pPr>
            <a:r>
              <a:rPr sz="3000" b="1">
                <a:solidFill>
                  <a:srgbClr val="1C1517"/>
                </a:solidFill>
                <a:latin typeface="Calibri"/>
              </a:rPr>
              <a:t>What we delivered, at a glance</a:t>
            </a:r>
          </a:p>
        </p:txBody>
      </p:sp>
      <p:sp>
        <p:nvSpPr>
          <p:cNvPr id="4" name="TextBox 3"/>
          <p:cNvSpPr txBox="1"/>
          <p:nvPr/>
        </p:nvSpPr>
        <p:spPr>
          <a:xfrm>
            <a:off x="11064240" y="384048"/>
            <a:ext cx="914400" cy="548640"/>
          </a:xfrm>
          <a:prstGeom prst="rect">
            <a:avLst/>
          </a:prstGeom>
          <a:noFill/>
        </p:spPr>
        <p:txBody>
          <a:bodyPr wrap="square">
            <a:spAutoFit/>
          </a:bodyPr>
          <a:lstStyle/>
          <a:p>
            <a:pPr algn="r">
              <a:lnSpc>
                <a:spcPct val="100000"/>
              </a:lnSpc>
              <a:spcAft>
                <a:spcPts val="400"/>
              </a:spcAft>
            </a:pPr>
            <a:r>
              <a:rPr sz="1200" b="0">
                <a:solidFill>
                  <a:srgbClr val="6F6265"/>
                </a:solidFill>
                <a:latin typeface="Calibri"/>
              </a:rPr>
              <a:t>01</a:t>
            </a:r>
          </a:p>
        </p:txBody>
      </p:sp>
      <p:sp>
        <p:nvSpPr>
          <p:cNvPr id="5" name="Rectangle 4"/>
          <p:cNvSpPr/>
          <p:nvPr/>
        </p:nvSpPr>
        <p:spPr>
          <a:xfrm>
            <a:off x="658368" y="1481328"/>
            <a:ext cx="10881360" cy="27432"/>
          </a:xfrm>
          <a:prstGeom prst="rect">
            <a:avLst/>
          </a:prstGeom>
          <a:solidFill>
            <a:srgbClr val="E8DF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783080"/>
            <a:ext cx="2615184" cy="1371600"/>
          </a:xfrm>
          <a:prstGeom prst="roundRect">
            <a:avLst>
              <a:gd name="adj" fmla="val 8000"/>
            </a:avLst>
          </a:prstGeom>
          <a:solidFill>
            <a:srgbClr val="FFFFFF"/>
          </a:solidFill>
          <a:ln w="12700">
            <a:solidFill>
              <a:srgbClr val="E8DF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83080"/>
            <a:ext cx="2615184" cy="64008"/>
          </a:xfrm>
          <a:prstGeom prst="rect">
            <a:avLst/>
          </a:prstGeom>
          <a:solidFill>
            <a:srgbClr val="ED11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1929384"/>
            <a:ext cx="2340864" cy="1097280"/>
          </a:xfrm>
          <a:prstGeom prst="rect">
            <a:avLst/>
          </a:prstGeom>
          <a:noFill/>
        </p:spPr>
        <p:txBody>
          <a:bodyPr wrap="square">
            <a:spAutoFit/>
          </a:bodyPr>
          <a:lstStyle/>
          <a:p>
            <a:pPr algn="l">
              <a:lnSpc>
                <a:spcPct val="100000"/>
              </a:lnSpc>
              <a:spcAft>
                <a:spcPts val="200"/>
              </a:spcAft>
            </a:pPr>
            <a:r>
              <a:rPr sz="3000" b="1">
                <a:solidFill>
                  <a:srgbClr val="ED1164"/>
                </a:solidFill>
                <a:latin typeface="Calibri"/>
              </a:rPr>
              <a:t>36</a:t>
            </a:r>
          </a:p>
          <a:p>
            <a:pPr algn="l">
              <a:lnSpc>
                <a:spcPct val="95000"/>
              </a:lnSpc>
              <a:spcAft>
                <a:spcPts val="400"/>
              </a:spcAft>
            </a:pPr>
            <a:r>
              <a:rPr sz="1050" b="0">
                <a:solidFill>
                  <a:srgbClr val="6F6265"/>
                </a:solidFill>
                <a:latin typeface="Calibri"/>
              </a:rPr>
              <a:t>Pages with rewritten,
keyword-first titles &amp; metas</a:t>
            </a:r>
          </a:p>
        </p:txBody>
      </p:sp>
      <p:sp>
        <p:nvSpPr>
          <p:cNvPr id="9" name="Rounded Rectangle 8"/>
          <p:cNvSpPr/>
          <p:nvPr/>
        </p:nvSpPr>
        <p:spPr>
          <a:xfrm>
            <a:off x="3419856" y="1783080"/>
            <a:ext cx="2615184" cy="1371600"/>
          </a:xfrm>
          <a:prstGeom prst="roundRect">
            <a:avLst>
              <a:gd name="adj" fmla="val 8000"/>
            </a:avLst>
          </a:prstGeom>
          <a:solidFill>
            <a:srgbClr val="FFFFFF"/>
          </a:solidFill>
          <a:ln w="12700">
            <a:solidFill>
              <a:srgbClr val="E8DF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419856" y="1783080"/>
            <a:ext cx="2615184" cy="64008"/>
          </a:xfrm>
          <a:prstGeom prst="rect">
            <a:avLst/>
          </a:prstGeom>
          <a:solidFill>
            <a:srgbClr val="ED11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57016" y="1929384"/>
            <a:ext cx="2340864" cy="1097280"/>
          </a:xfrm>
          <a:prstGeom prst="rect">
            <a:avLst/>
          </a:prstGeom>
          <a:noFill/>
        </p:spPr>
        <p:txBody>
          <a:bodyPr wrap="square">
            <a:spAutoFit/>
          </a:bodyPr>
          <a:lstStyle/>
          <a:p>
            <a:pPr algn="l">
              <a:lnSpc>
                <a:spcPct val="100000"/>
              </a:lnSpc>
              <a:spcAft>
                <a:spcPts val="200"/>
              </a:spcAft>
            </a:pPr>
            <a:r>
              <a:rPr sz="3000" b="1">
                <a:solidFill>
                  <a:srgbClr val="ED1164"/>
                </a:solidFill>
                <a:latin typeface="Calibri"/>
              </a:rPr>
              <a:t>23</a:t>
            </a:r>
          </a:p>
          <a:p>
            <a:pPr algn="l">
              <a:lnSpc>
                <a:spcPct val="95000"/>
              </a:lnSpc>
              <a:spcAft>
                <a:spcPts val="400"/>
              </a:spcAft>
            </a:pPr>
            <a:r>
              <a:rPr sz="1050" b="0">
                <a:solidFill>
                  <a:srgbClr val="6F6265"/>
                </a:solidFill>
                <a:latin typeface="Calibri"/>
              </a:rPr>
              <a:t>Pages with AEO
query-style FAQs</a:t>
            </a:r>
          </a:p>
        </p:txBody>
      </p:sp>
      <p:sp>
        <p:nvSpPr>
          <p:cNvPr id="12" name="Rounded Rectangle 11"/>
          <p:cNvSpPr/>
          <p:nvPr/>
        </p:nvSpPr>
        <p:spPr>
          <a:xfrm>
            <a:off x="6181344" y="1783080"/>
            <a:ext cx="2615184" cy="1371600"/>
          </a:xfrm>
          <a:prstGeom prst="roundRect">
            <a:avLst>
              <a:gd name="adj" fmla="val 8000"/>
            </a:avLst>
          </a:prstGeom>
          <a:solidFill>
            <a:srgbClr val="FFFFFF"/>
          </a:solidFill>
          <a:ln w="12700">
            <a:solidFill>
              <a:srgbClr val="E8DF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81344" y="1783080"/>
            <a:ext cx="2615184" cy="64008"/>
          </a:xfrm>
          <a:prstGeom prst="rect">
            <a:avLst/>
          </a:prstGeom>
          <a:solidFill>
            <a:srgbClr val="ED11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18504" y="1929384"/>
            <a:ext cx="2340864" cy="1097280"/>
          </a:xfrm>
          <a:prstGeom prst="rect">
            <a:avLst/>
          </a:prstGeom>
          <a:noFill/>
        </p:spPr>
        <p:txBody>
          <a:bodyPr wrap="square">
            <a:spAutoFit/>
          </a:bodyPr>
          <a:lstStyle/>
          <a:p>
            <a:pPr algn="l">
              <a:lnSpc>
                <a:spcPct val="100000"/>
              </a:lnSpc>
              <a:spcAft>
                <a:spcPts val="200"/>
              </a:spcAft>
            </a:pPr>
            <a:r>
              <a:rPr sz="3000" b="1">
                <a:solidFill>
                  <a:srgbClr val="ED1164"/>
                </a:solidFill>
                <a:latin typeface="Calibri"/>
              </a:rPr>
              <a:t>8</a:t>
            </a:r>
          </a:p>
          <a:p>
            <a:pPr algn="l">
              <a:lnSpc>
                <a:spcPct val="95000"/>
              </a:lnSpc>
              <a:spcAft>
                <a:spcPts val="400"/>
              </a:spcAft>
            </a:pPr>
            <a:r>
              <a:rPr sz="1050" b="0">
                <a:solidFill>
                  <a:srgbClr val="6F6265"/>
                </a:solidFill>
                <a:latin typeface="Calibri"/>
              </a:rPr>
              <a:t>Schema.org types
deployed site-wide</a:t>
            </a:r>
          </a:p>
        </p:txBody>
      </p:sp>
      <p:sp>
        <p:nvSpPr>
          <p:cNvPr id="15" name="Rounded Rectangle 14"/>
          <p:cNvSpPr/>
          <p:nvPr/>
        </p:nvSpPr>
        <p:spPr>
          <a:xfrm>
            <a:off x="8942832" y="1783080"/>
            <a:ext cx="2615184" cy="1371600"/>
          </a:xfrm>
          <a:prstGeom prst="roundRect">
            <a:avLst>
              <a:gd name="adj" fmla="val 8000"/>
            </a:avLst>
          </a:prstGeom>
          <a:solidFill>
            <a:srgbClr val="FFFFFF"/>
          </a:solidFill>
          <a:ln w="12700">
            <a:solidFill>
              <a:srgbClr val="E8DF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942832" y="1783080"/>
            <a:ext cx="2615184" cy="64008"/>
          </a:xfrm>
          <a:prstGeom prst="rect">
            <a:avLst/>
          </a:prstGeom>
          <a:solidFill>
            <a:srgbClr val="ED11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79992" y="1929384"/>
            <a:ext cx="2340864" cy="1097280"/>
          </a:xfrm>
          <a:prstGeom prst="rect">
            <a:avLst/>
          </a:prstGeom>
          <a:noFill/>
        </p:spPr>
        <p:txBody>
          <a:bodyPr wrap="square">
            <a:spAutoFit/>
          </a:bodyPr>
          <a:lstStyle/>
          <a:p>
            <a:pPr algn="l">
              <a:lnSpc>
                <a:spcPct val="100000"/>
              </a:lnSpc>
              <a:spcAft>
                <a:spcPts val="200"/>
              </a:spcAft>
            </a:pPr>
            <a:r>
              <a:rPr sz="3000" b="1">
                <a:solidFill>
                  <a:srgbClr val="ED1164"/>
                </a:solidFill>
                <a:latin typeface="Calibri"/>
              </a:rPr>
              <a:t>12</a:t>
            </a:r>
          </a:p>
          <a:p>
            <a:pPr algn="l">
              <a:lnSpc>
                <a:spcPct val="95000"/>
              </a:lnSpc>
              <a:spcAft>
                <a:spcPts val="400"/>
              </a:spcAft>
            </a:pPr>
            <a:r>
              <a:rPr sz="1050" b="0">
                <a:solidFill>
                  <a:srgbClr val="6F6265"/>
                </a:solidFill>
                <a:latin typeface="Calibri"/>
              </a:rPr>
              <a:t>AI crawlers explicitly
allowlisted (GEO)</a:t>
            </a:r>
          </a:p>
        </p:txBody>
      </p:sp>
      <p:sp>
        <p:nvSpPr>
          <p:cNvPr id="18" name="Rounded Rectangle 17"/>
          <p:cNvSpPr/>
          <p:nvPr/>
        </p:nvSpPr>
        <p:spPr>
          <a:xfrm>
            <a:off x="658368" y="3337560"/>
            <a:ext cx="2615184" cy="1371600"/>
          </a:xfrm>
          <a:prstGeom prst="roundRect">
            <a:avLst>
              <a:gd name="adj" fmla="val 8000"/>
            </a:avLst>
          </a:prstGeom>
          <a:solidFill>
            <a:srgbClr val="FFFFFF"/>
          </a:solidFill>
          <a:ln w="12700">
            <a:solidFill>
              <a:srgbClr val="E8DF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337560"/>
            <a:ext cx="2615184" cy="64008"/>
          </a:xfrm>
          <a:prstGeom prst="rect">
            <a:avLst/>
          </a:prstGeom>
          <a:solidFill>
            <a:srgbClr val="167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5528" y="3483864"/>
            <a:ext cx="2340864" cy="1097280"/>
          </a:xfrm>
          <a:prstGeom prst="rect">
            <a:avLst/>
          </a:prstGeom>
          <a:noFill/>
        </p:spPr>
        <p:txBody>
          <a:bodyPr wrap="square">
            <a:spAutoFit/>
          </a:bodyPr>
          <a:lstStyle/>
          <a:p>
            <a:pPr algn="l">
              <a:lnSpc>
                <a:spcPct val="100000"/>
              </a:lnSpc>
              <a:spcAft>
                <a:spcPts val="200"/>
              </a:spcAft>
            </a:pPr>
            <a:r>
              <a:rPr sz="3000" b="1">
                <a:solidFill>
                  <a:srgbClr val="16794A"/>
                </a:solidFill>
                <a:latin typeface="Calibri"/>
              </a:rPr>
              <a:t>15.9s → 1.1s</a:t>
            </a:r>
          </a:p>
          <a:p>
            <a:pPr algn="l">
              <a:lnSpc>
                <a:spcPct val="95000"/>
              </a:lnSpc>
              <a:spcAft>
                <a:spcPts val="400"/>
              </a:spcAft>
            </a:pPr>
            <a:r>
              <a:rPr sz="1050" b="0">
                <a:solidFill>
                  <a:srgbClr val="6F6265"/>
                </a:solidFill>
                <a:latin typeface="Calibri"/>
              </a:rPr>
              <a:t>Desktop LCP now
1.1s (Good, green)</a:t>
            </a:r>
          </a:p>
        </p:txBody>
      </p:sp>
      <p:sp>
        <p:nvSpPr>
          <p:cNvPr id="21" name="Rounded Rectangle 20"/>
          <p:cNvSpPr/>
          <p:nvPr/>
        </p:nvSpPr>
        <p:spPr>
          <a:xfrm>
            <a:off x="3419856" y="3337560"/>
            <a:ext cx="2615184" cy="1371600"/>
          </a:xfrm>
          <a:prstGeom prst="roundRect">
            <a:avLst>
              <a:gd name="adj" fmla="val 8000"/>
            </a:avLst>
          </a:prstGeom>
          <a:solidFill>
            <a:srgbClr val="FFFFFF"/>
          </a:solidFill>
          <a:ln w="12700">
            <a:solidFill>
              <a:srgbClr val="E8DF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419856" y="3337560"/>
            <a:ext cx="2615184" cy="64008"/>
          </a:xfrm>
          <a:prstGeom prst="rect">
            <a:avLst/>
          </a:prstGeom>
          <a:solidFill>
            <a:srgbClr val="167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557016" y="3483864"/>
            <a:ext cx="2340864" cy="1097280"/>
          </a:xfrm>
          <a:prstGeom prst="rect">
            <a:avLst/>
          </a:prstGeom>
          <a:noFill/>
        </p:spPr>
        <p:txBody>
          <a:bodyPr wrap="square">
            <a:spAutoFit/>
          </a:bodyPr>
          <a:lstStyle/>
          <a:p>
            <a:pPr algn="l">
              <a:lnSpc>
                <a:spcPct val="100000"/>
              </a:lnSpc>
              <a:spcAft>
                <a:spcPts val="200"/>
              </a:spcAft>
            </a:pPr>
            <a:r>
              <a:rPr sz="3000" b="1">
                <a:solidFill>
                  <a:srgbClr val="16794A"/>
                </a:solidFill>
                <a:latin typeface="Calibri"/>
              </a:rPr>
              <a:t>88</a:t>
            </a:r>
          </a:p>
          <a:p>
            <a:pPr algn="l">
              <a:lnSpc>
                <a:spcPct val="95000"/>
              </a:lnSpc>
              <a:spcAft>
                <a:spcPts val="400"/>
              </a:spcAft>
            </a:pPr>
            <a:r>
              <a:rPr sz="1050" b="0">
                <a:solidFill>
                  <a:srgbClr val="6F6265"/>
                </a:solidFill>
                <a:latin typeface="Calibri"/>
              </a:rPr>
              <a:t>Desktop PageSpeed
Performance score</a:t>
            </a:r>
          </a:p>
        </p:txBody>
      </p:sp>
      <p:sp>
        <p:nvSpPr>
          <p:cNvPr id="24" name="Rounded Rectangle 23"/>
          <p:cNvSpPr/>
          <p:nvPr/>
        </p:nvSpPr>
        <p:spPr>
          <a:xfrm>
            <a:off x="6181344" y="3337560"/>
            <a:ext cx="2615184" cy="1371600"/>
          </a:xfrm>
          <a:prstGeom prst="roundRect">
            <a:avLst>
              <a:gd name="adj" fmla="val 8000"/>
            </a:avLst>
          </a:prstGeom>
          <a:solidFill>
            <a:srgbClr val="FFFFFF"/>
          </a:solidFill>
          <a:ln w="12700">
            <a:solidFill>
              <a:srgbClr val="E8DF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81344" y="3337560"/>
            <a:ext cx="2615184" cy="64008"/>
          </a:xfrm>
          <a:prstGeom prst="rect">
            <a:avLst/>
          </a:prstGeom>
          <a:solidFill>
            <a:srgbClr val="167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18504" y="3483864"/>
            <a:ext cx="2340864" cy="1097280"/>
          </a:xfrm>
          <a:prstGeom prst="rect">
            <a:avLst/>
          </a:prstGeom>
          <a:noFill/>
        </p:spPr>
        <p:txBody>
          <a:bodyPr wrap="square">
            <a:spAutoFit/>
          </a:bodyPr>
          <a:lstStyle/>
          <a:p>
            <a:pPr algn="l">
              <a:lnSpc>
                <a:spcPct val="100000"/>
              </a:lnSpc>
              <a:spcAft>
                <a:spcPts val="200"/>
              </a:spcAft>
            </a:pPr>
            <a:r>
              <a:rPr sz="3000" b="1">
                <a:solidFill>
                  <a:srgbClr val="16794A"/>
                </a:solidFill>
                <a:latin typeface="Calibri"/>
              </a:rPr>
              <a:t>33 MB → ~3 MB</a:t>
            </a:r>
          </a:p>
          <a:p>
            <a:pPr algn="l">
              <a:lnSpc>
                <a:spcPct val="95000"/>
              </a:lnSpc>
              <a:spcAft>
                <a:spcPts val="400"/>
              </a:spcAft>
            </a:pPr>
            <a:r>
              <a:rPr sz="1050" b="0">
                <a:solidFill>
                  <a:srgbClr val="6F6265"/>
                </a:solidFill>
                <a:latin typeface="Calibri"/>
              </a:rPr>
              <a:t>Mobile page weight
(−90%)</a:t>
            </a:r>
          </a:p>
        </p:txBody>
      </p:sp>
      <p:sp>
        <p:nvSpPr>
          <p:cNvPr id="27" name="Rounded Rectangle 26"/>
          <p:cNvSpPr/>
          <p:nvPr/>
        </p:nvSpPr>
        <p:spPr>
          <a:xfrm>
            <a:off x="8942832" y="3337560"/>
            <a:ext cx="2615184" cy="1371600"/>
          </a:xfrm>
          <a:prstGeom prst="roundRect">
            <a:avLst>
              <a:gd name="adj" fmla="val 8000"/>
            </a:avLst>
          </a:prstGeom>
          <a:solidFill>
            <a:srgbClr val="FFFFFF"/>
          </a:solidFill>
          <a:ln w="12700">
            <a:solidFill>
              <a:srgbClr val="E8DF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942832" y="3337560"/>
            <a:ext cx="2615184" cy="64008"/>
          </a:xfrm>
          <a:prstGeom prst="rect">
            <a:avLst/>
          </a:prstGeom>
          <a:solidFill>
            <a:srgbClr val="167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079992" y="3483864"/>
            <a:ext cx="2340864" cy="1097280"/>
          </a:xfrm>
          <a:prstGeom prst="rect">
            <a:avLst/>
          </a:prstGeom>
          <a:noFill/>
        </p:spPr>
        <p:txBody>
          <a:bodyPr wrap="square">
            <a:spAutoFit/>
          </a:bodyPr>
          <a:lstStyle/>
          <a:p>
            <a:pPr algn="l">
              <a:lnSpc>
                <a:spcPct val="100000"/>
              </a:lnSpc>
              <a:spcAft>
                <a:spcPts val="200"/>
              </a:spcAft>
            </a:pPr>
            <a:r>
              <a:rPr sz="3000" b="1">
                <a:solidFill>
                  <a:srgbClr val="16794A"/>
                </a:solidFill>
                <a:latin typeface="Calibri"/>
              </a:rPr>
              <a:t>Live</a:t>
            </a:r>
          </a:p>
          <a:p>
            <a:pPr algn="l">
              <a:lnSpc>
                <a:spcPct val="95000"/>
              </a:lnSpc>
              <a:spcAft>
                <a:spcPts val="400"/>
              </a:spcAft>
            </a:pPr>
            <a:r>
              <a:rPr sz="1050" b="0">
                <a:solidFill>
                  <a:srgbClr val="6F6265"/>
                </a:solidFill>
                <a:latin typeface="Calibri"/>
              </a:rPr>
              <a:t>All changes shipped &amp;
verified in production</a:t>
            </a:r>
          </a:p>
        </p:txBody>
      </p:sp>
      <p:sp>
        <p:nvSpPr>
          <p:cNvPr id="30" name="TextBox 29"/>
          <p:cNvSpPr txBox="1"/>
          <p:nvPr/>
        </p:nvSpPr>
        <p:spPr>
          <a:xfrm>
            <a:off x="658368" y="5029200"/>
            <a:ext cx="10881360" cy="1463040"/>
          </a:xfrm>
          <a:prstGeom prst="rect">
            <a:avLst/>
          </a:prstGeom>
          <a:noFill/>
        </p:spPr>
        <p:txBody>
          <a:bodyPr wrap="square">
            <a:spAutoFit/>
          </a:bodyPr>
          <a:lstStyle/>
          <a:p>
            <a:pPr algn="l">
              <a:lnSpc>
                <a:spcPct val="105000"/>
              </a:lnSpc>
              <a:spcAft>
                <a:spcPts val="500"/>
              </a:spcAft>
            </a:pPr>
            <a:r>
              <a:rPr sz="1500" b="1">
                <a:solidFill>
                  <a:srgbClr val="1C1517"/>
                </a:solidFill>
                <a:latin typeface="Calibri"/>
              </a:rPr>
              <a:t>Six workstreams delivered</a:t>
            </a:r>
            <a:r>
              <a:rPr sz="1300" b="1">
                <a:solidFill>
                  <a:srgbClr val="ED1164"/>
                </a:solidFill>
                <a:latin typeface="Calibri"/>
              </a:rPr>
              <a:t>›  </a:t>
            </a:r>
            <a:r>
              <a:rPr sz="1300" b="1">
                <a:solidFill>
                  <a:srgbClr val="1C1517"/>
                </a:solidFill>
                <a:latin typeface="Calibri"/>
              </a:rPr>
              <a:t>On-Page SEO </a:t>
            </a:r>
            <a:r>
              <a:rPr sz="1300">
                <a:solidFill>
                  <a:srgbClr val="6F6265"/>
                </a:solidFill>
                <a:latin typeface="Calibri"/>
              </a:rPr>
              <a:t>— titles, meta descriptions, H1s, content optimization</a:t>
            </a:r>
          </a:p>
          <a:p>
            <a:pPr>
              <a:lnSpc>
                <a:spcPct val="105000"/>
              </a:lnSpc>
              <a:spcAft>
                <a:spcPts val="500"/>
              </a:spcAft>
            </a:pPr>
            <a:r>
              <a:rPr sz="1300" b="1">
                <a:solidFill>
                  <a:srgbClr val="ED1164"/>
                </a:solidFill>
                <a:latin typeface="Calibri"/>
              </a:rPr>
              <a:t>›  </a:t>
            </a:r>
            <a:r>
              <a:rPr sz="1300" b="1">
                <a:solidFill>
                  <a:srgbClr val="1C1517"/>
                </a:solidFill>
                <a:latin typeface="Calibri"/>
              </a:rPr>
              <a:t>Technical SEO </a:t>
            </a:r>
            <a:r>
              <a:rPr sz="1300">
                <a:solidFill>
                  <a:srgbClr val="6F6265"/>
                </a:solidFill>
                <a:latin typeface="Calibri"/>
              </a:rPr>
              <a:t>— structured data, sitemap, robots, canonicals, security, Core Web Vitals</a:t>
            </a:r>
          </a:p>
          <a:p>
            <a:pPr>
              <a:lnSpc>
                <a:spcPct val="105000"/>
              </a:lnSpc>
              <a:spcAft>
                <a:spcPts val="500"/>
              </a:spcAft>
            </a:pPr>
            <a:r>
              <a:rPr sz="1300" b="1">
                <a:solidFill>
                  <a:srgbClr val="ED1164"/>
                </a:solidFill>
                <a:latin typeface="Calibri"/>
              </a:rPr>
              <a:t>›  </a:t>
            </a:r>
            <a:r>
              <a:rPr sz="1300" b="1">
                <a:solidFill>
                  <a:srgbClr val="1C1517"/>
                </a:solidFill>
                <a:latin typeface="Calibri"/>
              </a:rPr>
              <a:t>AEO &amp; GEO </a:t>
            </a:r>
            <a:r>
              <a:rPr sz="1300">
                <a:solidFill>
                  <a:srgbClr val="6F6265"/>
                </a:solidFill>
                <a:latin typeface="Calibri"/>
              </a:rPr>
              <a:t>— FAQ schema + AI-crawler access + llms.txt for AI Overviews / ChatGPT / Perplexity</a:t>
            </a:r>
          </a:p>
          <a:p>
            <a:pPr>
              <a:lnSpc>
                <a:spcPct val="105000"/>
              </a:lnSpc>
              <a:spcAft>
                <a:spcPts val="500"/>
              </a:spcAft>
            </a:pPr>
            <a:r>
              <a:rPr sz="1300" b="1">
                <a:solidFill>
                  <a:srgbClr val="ED1164"/>
                </a:solidFill>
                <a:latin typeface="Calibri"/>
              </a:rPr>
              <a:t>›  </a:t>
            </a:r>
            <a:r>
              <a:rPr sz="1300" b="1">
                <a:solidFill>
                  <a:srgbClr val="1C1517"/>
                </a:solidFill>
                <a:latin typeface="Calibri"/>
              </a:rPr>
              <a:t>Keyword strategy, performance engineering, and a full 58-point technical audit</a:t>
            </a:r>
            <a:r>
              <a:rPr sz="1300">
                <a:solidFill>
                  <a:srgbClr val="6F6265"/>
                </a:solidFill>
                <a:latin typeface="Calibri"/>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7F8"/>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ED11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881360" cy="1051560"/>
          </a:xfrm>
          <a:prstGeom prst="rect">
            <a:avLst/>
          </a:prstGeom>
          <a:noFill/>
        </p:spPr>
        <p:txBody>
          <a:bodyPr wrap="square">
            <a:spAutoFit/>
          </a:bodyPr>
          <a:lstStyle/>
          <a:p>
            <a:pPr algn="l">
              <a:lnSpc>
                <a:spcPct val="100000"/>
              </a:lnSpc>
              <a:spcAft>
                <a:spcPts val="300"/>
              </a:spcAft>
            </a:pPr>
            <a:r>
              <a:rPr sz="1200" b="1">
                <a:solidFill>
                  <a:srgbClr val="ED1164"/>
                </a:solidFill>
                <a:latin typeface="Calibri"/>
              </a:rPr>
              <a:t>ON-PAGE SEO</a:t>
            </a:r>
          </a:p>
          <a:p>
            <a:pPr algn="l">
              <a:lnSpc>
                <a:spcPct val="100000"/>
              </a:lnSpc>
              <a:spcAft>
                <a:spcPts val="400"/>
              </a:spcAft>
            </a:pPr>
            <a:r>
              <a:rPr sz="3000" b="1">
                <a:solidFill>
                  <a:srgbClr val="1C1517"/>
                </a:solidFill>
                <a:latin typeface="Calibri"/>
              </a:rPr>
              <a:t>Titles, meta descriptions, headings &amp; content</a:t>
            </a:r>
          </a:p>
        </p:txBody>
      </p:sp>
      <p:sp>
        <p:nvSpPr>
          <p:cNvPr id="4" name="TextBox 3"/>
          <p:cNvSpPr txBox="1"/>
          <p:nvPr/>
        </p:nvSpPr>
        <p:spPr>
          <a:xfrm>
            <a:off x="11064240" y="384048"/>
            <a:ext cx="914400" cy="548640"/>
          </a:xfrm>
          <a:prstGeom prst="rect">
            <a:avLst/>
          </a:prstGeom>
          <a:noFill/>
        </p:spPr>
        <p:txBody>
          <a:bodyPr wrap="square">
            <a:spAutoFit/>
          </a:bodyPr>
          <a:lstStyle/>
          <a:p>
            <a:pPr algn="r">
              <a:lnSpc>
                <a:spcPct val="100000"/>
              </a:lnSpc>
              <a:spcAft>
                <a:spcPts val="400"/>
              </a:spcAft>
            </a:pPr>
            <a:r>
              <a:rPr sz="1200" b="0">
                <a:solidFill>
                  <a:srgbClr val="6F6265"/>
                </a:solidFill>
                <a:latin typeface="Calibri"/>
              </a:rPr>
              <a:t>02</a:t>
            </a:r>
          </a:p>
        </p:txBody>
      </p:sp>
      <p:sp>
        <p:nvSpPr>
          <p:cNvPr id="5" name="Rectangle 4"/>
          <p:cNvSpPr/>
          <p:nvPr/>
        </p:nvSpPr>
        <p:spPr>
          <a:xfrm>
            <a:off x="658368" y="1481328"/>
            <a:ext cx="10881360" cy="27432"/>
          </a:xfrm>
          <a:prstGeom prst="rect">
            <a:avLst/>
          </a:prstGeom>
          <a:solidFill>
            <a:srgbClr val="E8DF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691640"/>
            <a:ext cx="5212080" cy="4754880"/>
          </a:xfrm>
          <a:prstGeom prst="rect">
            <a:avLst/>
          </a:prstGeom>
          <a:noFill/>
        </p:spPr>
        <p:txBody>
          <a:bodyPr wrap="square">
            <a:spAutoFit/>
          </a:bodyPr>
          <a:lstStyle/>
          <a:p>
            <a:pPr algn="l">
              <a:lnSpc>
                <a:spcPct val="105000"/>
              </a:lnSpc>
              <a:spcAft>
                <a:spcPts val="800"/>
              </a:spcAft>
            </a:pPr>
            <a:r>
              <a:rPr sz="1500" b="1">
                <a:solidFill>
                  <a:srgbClr val="ED1164"/>
                </a:solidFill>
                <a:latin typeface="Calibri"/>
              </a:rPr>
              <a:t>What we did</a:t>
            </a:r>
            <a:r>
              <a:rPr sz="1250" b="1">
                <a:solidFill>
                  <a:srgbClr val="ED1164"/>
                </a:solidFill>
                <a:latin typeface="Calibri"/>
              </a:rPr>
              <a:t>›  </a:t>
            </a:r>
            <a:r>
              <a:rPr sz="1250" b="1">
                <a:solidFill>
                  <a:srgbClr val="1C1517"/>
                </a:solidFill>
                <a:latin typeface="Calibri"/>
              </a:rPr>
              <a:t>34 of 36 titles rewritten </a:t>
            </a:r>
            <a:r>
              <a:rPr sz="1250">
                <a:solidFill>
                  <a:srgbClr val="6F6265"/>
                </a:solidFill>
                <a:latin typeface="Calibri"/>
              </a:rPr>
              <a:t>— keyword-first + a click hook, 50–60 chars</a:t>
            </a:r>
          </a:p>
          <a:p>
            <a:pPr>
              <a:lnSpc>
                <a:spcPct val="105000"/>
              </a:lnSpc>
              <a:spcAft>
                <a:spcPts val="800"/>
              </a:spcAft>
            </a:pPr>
            <a:r>
              <a:rPr sz="1250" b="1">
                <a:solidFill>
                  <a:srgbClr val="ED1164"/>
                </a:solidFill>
                <a:latin typeface="Calibri"/>
              </a:rPr>
              <a:t>›  </a:t>
            </a:r>
            <a:r>
              <a:rPr sz="1250" b="1">
                <a:solidFill>
                  <a:srgbClr val="1C1517"/>
                </a:solidFill>
                <a:latin typeface="Calibri"/>
              </a:rPr>
              <a:t>All 36 meta descriptions </a:t>
            </a:r>
            <a:r>
              <a:rPr sz="1250">
                <a:solidFill>
                  <a:srgbClr val="6F6265"/>
                </a:solidFill>
                <a:latin typeface="Calibri"/>
              </a:rPr>
              <a:t>— unique, benefit + proof + CTA, 150–160 chars</a:t>
            </a:r>
          </a:p>
          <a:p>
            <a:pPr>
              <a:lnSpc>
                <a:spcPct val="105000"/>
              </a:lnSpc>
              <a:spcAft>
                <a:spcPts val="800"/>
              </a:spcAft>
            </a:pPr>
            <a:r>
              <a:rPr sz="1250" b="1">
                <a:solidFill>
                  <a:srgbClr val="ED1164"/>
                </a:solidFill>
                <a:latin typeface="Calibri"/>
              </a:rPr>
              <a:t>›  </a:t>
            </a:r>
            <a:r>
              <a:rPr sz="1250" b="1">
                <a:solidFill>
                  <a:srgbClr val="1C1517"/>
                </a:solidFill>
                <a:latin typeface="Calibri"/>
              </a:rPr>
              <a:t>One clear H1 per page </a:t>
            </a:r>
            <a:r>
              <a:rPr sz="1250">
                <a:solidFill>
                  <a:srgbClr val="6F6265"/>
                </a:solidFill>
                <a:latin typeface="Calibri"/>
              </a:rPr>
              <a:t>verified across every template</a:t>
            </a:r>
          </a:p>
          <a:p>
            <a:pPr>
              <a:lnSpc>
                <a:spcPct val="105000"/>
              </a:lnSpc>
              <a:spcAft>
                <a:spcPts val="800"/>
              </a:spcAft>
            </a:pPr>
            <a:r>
              <a:rPr sz="1250" b="1">
                <a:solidFill>
                  <a:srgbClr val="ED1164"/>
                </a:solidFill>
                <a:latin typeface="Calibri"/>
              </a:rPr>
              <a:t>›  </a:t>
            </a:r>
            <a:r>
              <a:rPr sz="1250" b="1">
                <a:solidFill>
                  <a:srgbClr val="1C1517"/>
                </a:solidFill>
                <a:latin typeface="Calibri"/>
              </a:rPr>
              <a:t>Self-referencing canonicals </a:t>
            </a:r>
            <a:r>
              <a:rPr sz="1250">
                <a:solidFill>
                  <a:srgbClr val="6F6265"/>
                </a:solidFill>
                <a:latin typeface="Calibri"/>
              </a:rPr>
              <a:t>on every route (no duplication)</a:t>
            </a:r>
          </a:p>
          <a:p>
            <a:pPr>
              <a:lnSpc>
                <a:spcPct val="105000"/>
              </a:lnSpc>
              <a:spcAft>
                <a:spcPts val="800"/>
              </a:spcAft>
            </a:pPr>
            <a:r>
              <a:rPr sz="1250" b="1">
                <a:solidFill>
                  <a:srgbClr val="ED1164"/>
                </a:solidFill>
                <a:latin typeface="Calibri"/>
              </a:rPr>
              <a:t>›  </a:t>
            </a:r>
            <a:r>
              <a:rPr sz="1250" b="1">
                <a:solidFill>
                  <a:srgbClr val="1C1517"/>
                </a:solidFill>
                <a:latin typeface="Calibri"/>
              </a:rPr>
              <a:t>Open Graph + Twitter cards </a:t>
            </a:r>
            <a:r>
              <a:rPr sz="1250">
                <a:solidFill>
                  <a:srgbClr val="6F6265"/>
                </a:solidFill>
                <a:latin typeface="Calibri"/>
              </a:rPr>
              <a:t>so shared links preview correctly</a:t>
            </a:r>
          </a:p>
          <a:p>
            <a:pPr>
              <a:lnSpc>
                <a:spcPct val="105000"/>
              </a:lnSpc>
              <a:spcAft>
                <a:spcPts val="800"/>
              </a:spcAft>
            </a:pPr>
            <a:r>
              <a:rPr sz="1250" b="1">
                <a:solidFill>
                  <a:srgbClr val="ED1164"/>
                </a:solidFill>
                <a:latin typeface="Calibri"/>
              </a:rPr>
              <a:t>›  </a:t>
            </a:r>
            <a:r>
              <a:rPr sz="1250" b="1">
                <a:solidFill>
                  <a:srgbClr val="1C1517"/>
                </a:solidFill>
                <a:latin typeface="Calibri"/>
              </a:rPr>
              <a:t>Image alt text </a:t>
            </a:r>
            <a:r>
              <a:rPr sz="1250">
                <a:solidFill>
                  <a:srgbClr val="6F6265"/>
                </a:solidFill>
                <a:latin typeface="Calibri"/>
              </a:rPr>
              <a:t>fixed on blog &amp; case-study images</a:t>
            </a:r>
          </a:p>
        </p:txBody>
      </p:sp>
      <p:sp>
        <p:nvSpPr>
          <p:cNvPr id="7" name="Rounded Rectangle 6"/>
          <p:cNvSpPr/>
          <p:nvPr/>
        </p:nvSpPr>
        <p:spPr>
          <a:xfrm>
            <a:off x="6126480" y="1737360"/>
            <a:ext cx="5394960" cy="4480560"/>
          </a:xfrm>
          <a:prstGeom prst="roundRect">
            <a:avLst>
              <a:gd name="adj" fmla="val 8000"/>
            </a:avLst>
          </a:prstGeom>
          <a:solidFill>
            <a:srgbClr val="FFFFFF"/>
          </a:solidFill>
          <a:ln w="12700">
            <a:solidFill>
              <a:srgbClr val="E8DF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874519"/>
            <a:ext cx="5029200" cy="4297680"/>
          </a:xfrm>
          <a:prstGeom prst="rect">
            <a:avLst/>
          </a:prstGeom>
          <a:noFill/>
        </p:spPr>
        <p:txBody>
          <a:bodyPr wrap="square">
            <a:spAutoFit/>
          </a:bodyPr>
          <a:lstStyle/>
          <a:p>
            <a:pPr algn="l">
              <a:lnSpc>
                <a:spcPct val="100000"/>
              </a:lnSpc>
              <a:spcAft>
                <a:spcPts val="1000"/>
              </a:spcAft>
            </a:pPr>
            <a:r>
              <a:rPr sz="1100" b="1">
                <a:solidFill>
                  <a:srgbClr val="6F6265"/>
                </a:solidFill>
                <a:latin typeface="Calibri"/>
              </a:rPr>
              <a:t>BEFORE  →  AFTER  (examples)</a:t>
            </a:r>
          </a:p>
          <a:p>
            <a:pPr algn="l">
              <a:lnSpc>
                <a:spcPct val="100000"/>
              </a:lnSpc>
              <a:spcAft>
                <a:spcPts val="0"/>
              </a:spcAft>
            </a:pPr>
            <a:r>
              <a:rPr sz="1050" b="0">
                <a:solidFill>
                  <a:srgbClr val="6F6265"/>
                </a:solidFill>
                <a:latin typeface="Calibri"/>
              </a:rPr>
              <a:t>IT Staff Augmentation Services in the USA</a:t>
            </a:r>
          </a:p>
          <a:p>
            <a:pPr algn="l">
              <a:lnSpc>
                <a:spcPct val="100000"/>
              </a:lnSpc>
              <a:spcAft>
                <a:spcPts val="900"/>
              </a:spcAft>
            </a:pPr>
            <a:r>
              <a:rPr sz="1150" b="1">
                <a:solidFill>
                  <a:srgbClr val="1C1517"/>
                </a:solidFill>
                <a:latin typeface="Calibri"/>
              </a:rPr>
              <a:t>IT Staff Augmentation &amp; Offshore Teams USA</a:t>
            </a:r>
          </a:p>
          <a:p>
            <a:pPr algn="l">
              <a:lnSpc>
                <a:spcPct val="100000"/>
              </a:lnSpc>
              <a:spcAft>
                <a:spcPts val="0"/>
              </a:spcAft>
            </a:pPr>
            <a:r>
              <a:rPr sz="1050" b="0">
                <a:solidFill>
                  <a:srgbClr val="6F6265"/>
                </a:solidFill>
                <a:latin typeface="Calibri"/>
              </a:rPr>
              <a:t>Managed SOC &amp; Cybersecurity Monitoring USA</a:t>
            </a:r>
          </a:p>
          <a:p>
            <a:pPr algn="l">
              <a:lnSpc>
                <a:spcPct val="100000"/>
              </a:lnSpc>
              <a:spcAft>
                <a:spcPts val="900"/>
              </a:spcAft>
            </a:pPr>
            <a:r>
              <a:rPr sz="1150" b="1">
                <a:solidFill>
                  <a:srgbClr val="1C1517"/>
                </a:solidFill>
                <a:latin typeface="Calibri"/>
              </a:rPr>
              <a:t>Managed SOC &amp; MDR Monitoring Services USA</a:t>
            </a:r>
          </a:p>
          <a:p>
            <a:pPr algn="l">
              <a:lnSpc>
                <a:spcPct val="100000"/>
              </a:lnSpc>
              <a:spcAft>
                <a:spcPts val="0"/>
              </a:spcAft>
            </a:pPr>
            <a:r>
              <a:rPr sz="1050" b="0">
                <a:solidFill>
                  <a:srgbClr val="6F6265"/>
                </a:solidFill>
                <a:latin typeface="Calibri"/>
              </a:rPr>
              <a:t>Outsourced Accounting &amp; Bookkeeping USA</a:t>
            </a:r>
          </a:p>
          <a:p>
            <a:pPr algn="l">
              <a:lnSpc>
                <a:spcPct val="100000"/>
              </a:lnSpc>
              <a:spcAft>
                <a:spcPts val="900"/>
              </a:spcAft>
            </a:pPr>
            <a:r>
              <a:rPr sz="1150" b="1">
                <a:solidFill>
                  <a:srgbClr val="1C1517"/>
                </a:solidFill>
                <a:latin typeface="Calibri"/>
              </a:rPr>
              <a:t>Finance &amp; Accounting Outsourcing USA, AP &amp; AR</a:t>
            </a:r>
          </a:p>
          <a:p>
            <a:pPr algn="l">
              <a:lnSpc>
                <a:spcPct val="100000"/>
              </a:lnSpc>
              <a:spcAft>
                <a:spcPts val="0"/>
              </a:spcAft>
            </a:pPr>
            <a:r>
              <a:rPr sz="1050" b="0">
                <a:solidFill>
                  <a:srgbClr val="6F6265"/>
                </a:solidFill>
                <a:latin typeface="Calibri"/>
              </a:rPr>
              <a:t>Why MindWhiz | Staff Augmentation for US</a:t>
            </a:r>
          </a:p>
          <a:p>
            <a:pPr algn="l">
              <a:lnSpc>
                <a:spcPct val="100000"/>
              </a:lnSpc>
              <a:spcAft>
                <a:spcPts val="900"/>
              </a:spcAft>
            </a:pPr>
            <a:r>
              <a:rPr sz="1150" b="1">
                <a:solidFill>
                  <a:srgbClr val="1C1517"/>
                </a:solidFill>
                <a:latin typeface="Calibri"/>
              </a:rPr>
              <a:t>Why MindWhiz | 10-Day Deploy, 99.8% Retention</a:t>
            </a:r>
          </a:p>
          <a:p>
            <a:pPr algn="l">
              <a:lnSpc>
                <a:spcPct val="100000"/>
              </a:lnSpc>
              <a:spcAft>
                <a:spcPts val="0"/>
              </a:spcAft>
            </a:pPr>
            <a:r>
              <a:rPr sz="1050" b="0">
                <a:solidFill>
                  <a:srgbClr val="6F6265"/>
                </a:solidFill>
                <a:latin typeface="Calibri"/>
              </a:rPr>
              <a:t>Contact MindWhiz | Free US Consultation</a:t>
            </a:r>
          </a:p>
          <a:p>
            <a:pPr algn="l">
              <a:lnSpc>
                <a:spcPct val="100000"/>
              </a:lnSpc>
              <a:spcAft>
                <a:spcPts val="900"/>
              </a:spcAft>
            </a:pPr>
            <a:r>
              <a:rPr sz="1150" b="1">
                <a:solidFill>
                  <a:srgbClr val="1C1517"/>
                </a:solidFill>
                <a:latin typeface="Calibri"/>
              </a:rPr>
              <a:t>Contact MindWhiz | Free Quote in 1 Business Day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7F8"/>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ED11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881360" cy="1051560"/>
          </a:xfrm>
          <a:prstGeom prst="rect">
            <a:avLst/>
          </a:prstGeom>
          <a:noFill/>
        </p:spPr>
        <p:txBody>
          <a:bodyPr wrap="square">
            <a:spAutoFit/>
          </a:bodyPr>
          <a:lstStyle/>
          <a:p>
            <a:pPr algn="l">
              <a:lnSpc>
                <a:spcPct val="100000"/>
              </a:lnSpc>
              <a:spcAft>
                <a:spcPts val="300"/>
              </a:spcAft>
            </a:pPr>
            <a:r>
              <a:rPr sz="1200" b="1">
                <a:solidFill>
                  <a:srgbClr val="ED1164"/>
                </a:solidFill>
                <a:latin typeface="Calibri"/>
              </a:rPr>
              <a:t>KEYWORD STRATEGY</a:t>
            </a:r>
          </a:p>
          <a:p>
            <a:pPr algn="l">
              <a:lnSpc>
                <a:spcPct val="100000"/>
              </a:lnSpc>
              <a:spcAft>
                <a:spcPts val="400"/>
              </a:spcAft>
            </a:pPr>
            <a:r>
              <a:rPr sz="3000" b="1">
                <a:solidFill>
                  <a:srgbClr val="1C1517"/>
                </a:solidFill>
                <a:latin typeface="Calibri"/>
              </a:rPr>
              <a:t>From unwinnable head terms to winnable long-tail</a:t>
            </a:r>
          </a:p>
        </p:txBody>
      </p:sp>
      <p:sp>
        <p:nvSpPr>
          <p:cNvPr id="4" name="TextBox 3"/>
          <p:cNvSpPr txBox="1"/>
          <p:nvPr/>
        </p:nvSpPr>
        <p:spPr>
          <a:xfrm>
            <a:off x="11064240" y="384048"/>
            <a:ext cx="914400" cy="548640"/>
          </a:xfrm>
          <a:prstGeom prst="rect">
            <a:avLst/>
          </a:prstGeom>
          <a:noFill/>
        </p:spPr>
        <p:txBody>
          <a:bodyPr wrap="square">
            <a:spAutoFit/>
          </a:bodyPr>
          <a:lstStyle/>
          <a:p>
            <a:pPr algn="r">
              <a:lnSpc>
                <a:spcPct val="100000"/>
              </a:lnSpc>
              <a:spcAft>
                <a:spcPts val="400"/>
              </a:spcAft>
            </a:pPr>
            <a:r>
              <a:rPr sz="1200" b="0">
                <a:solidFill>
                  <a:srgbClr val="6F6265"/>
                </a:solidFill>
                <a:latin typeface="Calibri"/>
              </a:rPr>
              <a:t>03</a:t>
            </a:r>
          </a:p>
        </p:txBody>
      </p:sp>
      <p:sp>
        <p:nvSpPr>
          <p:cNvPr id="5" name="Rectangle 4"/>
          <p:cNvSpPr/>
          <p:nvPr/>
        </p:nvSpPr>
        <p:spPr>
          <a:xfrm>
            <a:off x="658368" y="1481328"/>
            <a:ext cx="10881360" cy="27432"/>
          </a:xfrm>
          <a:prstGeom prst="rect">
            <a:avLst/>
          </a:prstGeom>
          <a:solidFill>
            <a:srgbClr val="E8DF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572768"/>
            <a:ext cx="10881360" cy="640080"/>
          </a:xfrm>
          <a:prstGeom prst="rect">
            <a:avLst/>
          </a:prstGeom>
          <a:noFill/>
        </p:spPr>
        <p:txBody>
          <a:bodyPr wrap="square">
            <a:spAutoFit/>
          </a:bodyPr>
          <a:lstStyle/>
          <a:p>
            <a:pPr algn="l">
              <a:lnSpc>
                <a:spcPct val="105000"/>
              </a:lnSpc>
              <a:spcAft>
                <a:spcPts val="400"/>
              </a:spcAft>
            </a:pPr>
            <a:r>
              <a:rPr sz="1250" b="0">
                <a:solidFill>
                  <a:srgbClr val="6F6265"/>
                </a:solidFill>
                <a:latin typeface="Calibri"/>
              </a:rPr>
              <a:t>We moved every page off broad head terms (owned by Toptal, Andela, BairesDev) onto lower-competition, high-intent keywords the site can actually rank for — chosen from real volume / difficulty data.</a:t>
            </a:r>
          </a:p>
        </p:txBody>
      </p:sp>
      <p:graphicFrame>
        <p:nvGraphicFramePr>
          <p:cNvPr id="7" name="Table 6"/>
          <p:cNvGraphicFramePr>
            <a:graphicFrameLocks noGrp="1"/>
          </p:cNvGraphicFramePr>
          <p:nvPr/>
        </p:nvGraphicFramePr>
        <p:xfrm>
          <a:off x="658368" y="2377440"/>
          <a:ext cx="10881358" cy="3657600"/>
        </p:xfrm>
        <a:graphic>
          <a:graphicData uri="http://schemas.openxmlformats.org/drawingml/2006/table">
            <a:tbl>
              <a:tblPr>
                <a:tableStyleId>{5C22544A-7EE6-4342-B048-85BDC9FD1C3A}</a:tableStyleId>
              </a:tblPr>
              <a:tblGrid>
                <a:gridCol w="2022199"/>
                <a:gridCol w="4044399"/>
                <a:gridCol w="1637018"/>
                <a:gridCol w="3177742"/>
              </a:tblGrid>
              <a:tr h="457200">
                <a:tc>
                  <a:txBody>
                    <a:bodyPr wrap="square"/>
                    <a:lstStyle/>
                    <a:p>
                      <a:pPr algn="l"/>
                      <a:r>
                        <a:rPr sz="1100" b="1">
                          <a:solidFill>
                            <a:srgbClr val="FFFFFF"/>
                          </a:solidFill>
                          <a:latin typeface="Calibri"/>
                        </a:rPr>
                        <a:t>Page</a:t>
                      </a:r>
                    </a:p>
                  </a:txBody>
                  <a:tcPr marL="82296" marR="54864" marT="27432" marB="27432" anchor="ctr">
                    <a:solidFill>
                      <a:srgbClr val="1C1517"/>
                    </a:solidFill>
                  </a:tcPr>
                </a:tc>
                <a:tc>
                  <a:txBody>
                    <a:bodyPr wrap="square"/>
                    <a:lstStyle/>
                    <a:p>
                      <a:pPr algn="l"/>
                      <a:r>
                        <a:rPr sz="1100" b="1">
                          <a:solidFill>
                            <a:srgbClr val="FFFFFF"/>
                          </a:solidFill>
                          <a:latin typeface="Calibri"/>
                        </a:rPr>
                        <a:t>Target keyword (new)</a:t>
                      </a:r>
                    </a:p>
                  </a:txBody>
                  <a:tcPr marL="82296" marR="54864" marT="27432" marB="27432" anchor="ctr">
                    <a:solidFill>
                      <a:srgbClr val="1C1517"/>
                    </a:solidFill>
                  </a:tcPr>
                </a:tc>
                <a:tc>
                  <a:txBody>
                    <a:bodyPr wrap="square"/>
                    <a:lstStyle/>
                    <a:p>
                      <a:pPr algn="l"/>
                      <a:r>
                        <a:rPr sz="1100" b="1">
                          <a:solidFill>
                            <a:srgbClr val="FFFFFF"/>
                          </a:solidFill>
                          <a:latin typeface="Calibri"/>
                        </a:rPr>
                        <a:t>Difficulty (KD)</a:t>
                      </a:r>
                    </a:p>
                  </a:txBody>
                  <a:tcPr marL="82296" marR="54864" marT="27432" marB="27432" anchor="ctr">
                    <a:solidFill>
                      <a:srgbClr val="1C1517"/>
                    </a:solidFill>
                  </a:tcPr>
                </a:tc>
                <a:tc>
                  <a:txBody>
                    <a:bodyPr wrap="square"/>
                    <a:lstStyle/>
                    <a:p>
                      <a:pPr algn="l"/>
                      <a:r>
                        <a:rPr sz="1100" b="1">
                          <a:solidFill>
                            <a:srgbClr val="FFFFFF"/>
                          </a:solidFill>
                          <a:latin typeface="Calibri"/>
                        </a:rPr>
                        <a:t>Why it's winnable</a:t>
                      </a:r>
                    </a:p>
                  </a:txBody>
                  <a:tcPr marL="82296" marR="54864" marT="27432" marB="27432" anchor="ctr">
                    <a:solidFill>
                      <a:srgbClr val="1C1517"/>
                    </a:solidFill>
                  </a:tcPr>
                </a:tc>
              </a:tr>
              <a:tr h="457200">
                <a:tc>
                  <a:txBody>
                    <a:bodyPr wrap="square"/>
                    <a:lstStyle/>
                    <a:p>
                      <a:pPr algn="l"/>
                      <a:r>
                        <a:rPr sz="1200">
                          <a:solidFill>
                            <a:srgbClr val="1C1517"/>
                          </a:solidFill>
                          <a:latin typeface="Calibri"/>
                        </a:rPr>
                        <a:t>Server / Network</a:t>
                      </a:r>
                    </a:p>
                  </a:txBody>
                  <a:tcPr marL="82296" marR="54864" marT="27432" marB="27432" anchor="ctr">
                    <a:solidFill>
                      <a:srgbClr val="FFFFFF"/>
                    </a:solidFill>
                  </a:tcPr>
                </a:tc>
                <a:tc>
                  <a:txBody>
                    <a:bodyPr wrap="square"/>
                    <a:lstStyle/>
                    <a:p>
                      <a:pPr algn="l"/>
                      <a:r>
                        <a:rPr sz="1200">
                          <a:solidFill>
                            <a:srgbClr val="1C1517"/>
                          </a:solidFill>
                          <a:latin typeface="Calibri"/>
                        </a:rPr>
                        <a:t>server administration outsourcing</a:t>
                      </a:r>
                    </a:p>
                  </a:txBody>
                  <a:tcPr marL="82296" marR="54864" marT="27432" marB="27432" anchor="ctr">
                    <a:solidFill>
                      <a:srgbClr val="FFFFFF"/>
                    </a:solidFill>
                  </a:tcPr>
                </a:tc>
                <a:tc>
                  <a:txBody>
                    <a:bodyPr wrap="square"/>
                    <a:lstStyle/>
                    <a:p>
                      <a:pPr algn="l"/>
                      <a:r>
                        <a:rPr sz="1200">
                          <a:solidFill>
                            <a:srgbClr val="1C1517"/>
                          </a:solidFill>
                          <a:latin typeface="Calibri"/>
                        </a:rPr>
                        <a:t>KD 5</a:t>
                      </a:r>
                    </a:p>
                  </a:txBody>
                  <a:tcPr marL="82296" marR="54864" marT="27432" marB="27432" anchor="ctr">
                    <a:solidFill>
                      <a:srgbClr val="FFFFFF"/>
                    </a:solidFill>
                  </a:tcPr>
                </a:tc>
                <a:tc>
                  <a:txBody>
                    <a:bodyPr wrap="square"/>
                    <a:lstStyle/>
                    <a:p>
                      <a:pPr algn="l"/>
                      <a:r>
                        <a:rPr sz="1200">
                          <a:solidFill>
                            <a:srgbClr val="1C1517"/>
                          </a:solidFill>
                          <a:latin typeface="Calibri"/>
                        </a:rPr>
                        <a:t>Very low competition</a:t>
                      </a:r>
                    </a:p>
                  </a:txBody>
                  <a:tcPr marL="82296" marR="54864" marT="27432" marB="27432" anchor="ctr">
                    <a:solidFill>
                      <a:srgbClr val="FFFFFF"/>
                    </a:solidFill>
                  </a:tcPr>
                </a:tc>
              </a:tr>
              <a:tr h="457200">
                <a:tc>
                  <a:txBody>
                    <a:bodyPr wrap="square"/>
                    <a:lstStyle/>
                    <a:p>
                      <a:pPr algn="l"/>
                      <a:r>
                        <a:rPr sz="1200">
                          <a:solidFill>
                            <a:srgbClr val="1C1517"/>
                          </a:solidFill>
                          <a:latin typeface="Calibri"/>
                        </a:rPr>
                        <a:t>Staff Augmentation</a:t>
                      </a:r>
                    </a:p>
                  </a:txBody>
                  <a:tcPr marL="82296" marR="54864" marT="27432" marB="27432" anchor="ctr">
                    <a:solidFill>
                      <a:srgbClr val="F7F1F3"/>
                    </a:solidFill>
                  </a:tcPr>
                </a:tc>
                <a:tc>
                  <a:txBody>
                    <a:bodyPr wrap="square"/>
                    <a:lstStyle/>
                    <a:p>
                      <a:pPr algn="l"/>
                      <a:r>
                        <a:rPr sz="1200">
                          <a:solidFill>
                            <a:srgbClr val="1C1517"/>
                          </a:solidFill>
                          <a:latin typeface="Calibri"/>
                        </a:rPr>
                        <a:t>offshore staffing for US companies</a:t>
                      </a:r>
                    </a:p>
                  </a:txBody>
                  <a:tcPr marL="82296" marR="54864" marT="27432" marB="27432" anchor="ctr">
                    <a:solidFill>
                      <a:srgbClr val="F7F1F3"/>
                    </a:solidFill>
                  </a:tcPr>
                </a:tc>
                <a:tc>
                  <a:txBody>
                    <a:bodyPr wrap="square"/>
                    <a:lstStyle/>
                    <a:p>
                      <a:pPr algn="l"/>
                      <a:r>
                        <a:rPr sz="1200">
                          <a:solidFill>
                            <a:srgbClr val="1C1517"/>
                          </a:solidFill>
                          <a:latin typeface="Calibri"/>
                        </a:rPr>
                        <a:t>KD 1</a:t>
                      </a:r>
                    </a:p>
                  </a:txBody>
                  <a:tcPr marL="82296" marR="54864" marT="27432" marB="27432" anchor="ctr">
                    <a:solidFill>
                      <a:srgbClr val="F7F1F3"/>
                    </a:solidFill>
                  </a:tcPr>
                </a:tc>
                <a:tc>
                  <a:txBody>
                    <a:bodyPr wrap="square"/>
                    <a:lstStyle/>
                    <a:p>
                      <a:pPr algn="l"/>
                      <a:r>
                        <a:rPr sz="1200">
                          <a:solidFill>
                            <a:srgbClr val="1C1517"/>
                          </a:solidFill>
                          <a:latin typeface="Calibri"/>
                        </a:rPr>
                        <a:t>Wide open</a:t>
                      </a:r>
                    </a:p>
                  </a:txBody>
                  <a:tcPr marL="82296" marR="54864" marT="27432" marB="27432" anchor="ctr">
                    <a:solidFill>
                      <a:srgbClr val="F7F1F3"/>
                    </a:solidFill>
                  </a:tcPr>
                </a:tc>
              </a:tr>
              <a:tr h="457200">
                <a:tc>
                  <a:txBody>
                    <a:bodyPr wrap="square"/>
                    <a:lstStyle/>
                    <a:p>
                      <a:pPr algn="l"/>
                      <a:r>
                        <a:rPr sz="1200">
                          <a:solidFill>
                            <a:srgbClr val="1C1517"/>
                          </a:solidFill>
                          <a:latin typeface="Calibri"/>
                        </a:rPr>
                        <a:t>Ecommerce</a:t>
                      </a:r>
                    </a:p>
                  </a:txBody>
                  <a:tcPr marL="82296" marR="54864" marT="27432" marB="27432" anchor="ctr">
                    <a:solidFill>
                      <a:srgbClr val="FFFFFF"/>
                    </a:solidFill>
                  </a:tcPr>
                </a:tc>
                <a:tc>
                  <a:txBody>
                    <a:bodyPr wrap="square"/>
                    <a:lstStyle/>
                    <a:p>
                      <a:pPr algn="l"/>
                      <a:r>
                        <a:rPr sz="1200">
                          <a:solidFill>
                            <a:srgbClr val="1C1517"/>
                          </a:solidFill>
                          <a:latin typeface="Calibri"/>
                        </a:rPr>
                        <a:t>ecommerce product listing services</a:t>
                      </a:r>
                    </a:p>
                  </a:txBody>
                  <a:tcPr marL="82296" marR="54864" marT="27432" marB="27432" anchor="ctr">
                    <a:solidFill>
                      <a:srgbClr val="FFFFFF"/>
                    </a:solidFill>
                  </a:tcPr>
                </a:tc>
                <a:tc>
                  <a:txBody>
                    <a:bodyPr wrap="square"/>
                    <a:lstStyle/>
                    <a:p>
                      <a:pPr algn="l"/>
                      <a:r>
                        <a:rPr sz="1200">
                          <a:solidFill>
                            <a:srgbClr val="1C1517"/>
                          </a:solidFill>
                          <a:latin typeface="Calibri"/>
                        </a:rPr>
                        <a:t>KD 2</a:t>
                      </a:r>
                    </a:p>
                  </a:txBody>
                  <a:tcPr marL="82296" marR="54864" marT="27432" marB="27432" anchor="ctr">
                    <a:solidFill>
                      <a:srgbClr val="FFFFFF"/>
                    </a:solidFill>
                  </a:tcPr>
                </a:tc>
                <a:tc>
                  <a:txBody>
                    <a:bodyPr wrap="square"/>
                    <a:lstStyle/>
                    <a:p>
                      <a:pPr algn="l"/>
                      <a:r>
                        <a:rPr sz="1200">
                          <a:solidFill>
                            <a:srgbClr val="1C1517"/>
                          </a:solidFill>
                          <a:latin typeface="Calibri"/>
                        </a:rPr>
                        <a:t>Vol 170, low KD</a:t>
                      </a:r>
                    </a:p>
                  </a:txBody>
                  <a:tcPr marL="82296" marR="54864" marT="27432" marB="27432" anchor="ctr">
                    <a:solidFill>
                      <a:srgbClr val="FFFFFF"/>
                    </a:solidFill>
                  </a:tcPr>
                </a:tc>
              </a:tr>
              <a:tr h="457200">
                <a:tc>
                  <a:txBody>
                    <a:bodyPr wrap="square"/>
                    <a:lstStyle/>
                    <a:p>
                      <a:pPr algn="l"/>
                      <a:r>
                        <a:rPr sz="1200">
                          <a:solidFill>
                            <a:srgbClr val="1C1517"/>
                          </a:solidFill>
                          <a:latin typeface="Calibri"/>
                        </a:rPr>
                        <a:t>Construction (ind.)</a:t>
                      </a:r>
                    </a:p>
                  </a:txBody>
                  <a:tcPr marL="82296" marR="54864" marT="27432" marB="27432" anchor="ctr">
                    <a:solidFill>
                      <a:srgbClr val="F7F1F3"/>
                    </a:solidFill>
                  </a:tcPr>
                </a:tc>
                <a:tc>
                  <a:txBody>
                    <a:bodyPr wrap="square"/>
                    <a:lstStyle/>
                    <a:p>
                      <a:pPr algn="l"/>
                      <a:r>
                        <a:rPr sz="1200">
                          <a:solidFill>
                            <a:srgbClr val="1C1517"/>
                          </a:solidFill>
                          <a:latin typeface="Calibri"/>
                        </a:rPr>
                        <a:t>managed IT for construction companies</a:t>
                      </a:r>
                    </a:p>
                  </a:txBody>
                  <a:tcPr marL="82296" marR="54864" marT="27432" marB="27432" anchor="ctr">
                    <a:solidFill>
                      <a:srgbClr val="F7F1F3"/>
                    </a:solidFill>
                  </a:tcPr>
                </a:tc>
                <a:tc>
                  <a:txBody>
                    <a:bodyPr wrap="square"/>
                    <a:lstStyle/>
                    <a:p>
                      <a:pPr algn="l"/>
                      <a:r>
                        <a:rPr sz="1200">
                          <a:solidFill>
                            <a:srgbClr val="1C1517"/>
                          </a:solidFill>
                          <a:latin typeface="Calibri"/>
                        </a:rPr>
                        <a:t>KD 3</a:t>
                      </a:r>
                    </a:p>
                  </a:txBody>
                  <a:tcPr marL="82296" marR="54864" marT="27432" marB="27432" anchor="ctr">
                    <a:solidFill>
                      <a:srgbClr val="F7F1F3"/>
                    </a:solidFill>
                  </a:tcPr>
                </a:tc>
                <a:tc>
                  <a:txBody>
                    <a:bodyPr wrap="square"/>
                    <a:lstStyle/>
                    <a:p>
                      <a:pPr algn="l"/>
                      <a:r>
                        <a:rPr sz="1200">
                          <a:solidFill>
                            <a:srgbClr val="1C1517"/>
                          </a:solidFill>
                          <a:latin typeface="Calibri"/>
                        </a:rPr>
                        <a:t>Niche + real clients</a:t>
                      </a:r>
                    </a:p>
                  </a:txBody>
                  <a:tcPr marL="82296" marR="54864" marT="27432" marB="27432" anchor="ctr">
                    <a:solidFill>
                      <a:srgbClr val="F7F1F3"/>
                    </a:solidFill>
                  </a:tcPr>
                </a:tc>
              </a:tr>
              <a:tr h="457200">
                <a:tc>
                  <a:txBody>
                    <a:bodyPr wrap="square"/>
                    <a:lstStyle/>
                    <a:p>
                      <a:pPr algn="l"/>
                      <a:r>
                        <a:rPr sz="1200">
                          <a:solidFill>
                            <a:srgbClr val="1C1517"/>
                          </a:solidFill>
                          <a:latin typeface="Calibri"/>
                        </a:rPr>
                        <a:t>Finance</a:t>
                      </a:r>
                    </a:p>
                  </a:txBody>
                  <a:tcPr marL="82296" marR="54864" marT="27432" marB="27432" anchor="ctr">
                    <a:solidFill>
                      <a:srgbClr val="FFFFFF"/>
                    </a:solidFill>
                  </a:tcPr>
                </a:tc>
                <a:tc>
                  <a:txBody>
                    <a:bodyPr wrap="square"/>
                    <a:lstStyle/>
                    <a:p>
                      <a:pPr algn="l"/>
                      <a:r>
                        <a:rPr sz="1200">
                          <a:solidFill>
                            <a:srgbClr val="1C1517"/>
                          </a:solidFill>
                          <a:latin typeface="Calibri"/>
                        </a:rPr>
                        <a:t>accounts payable outsourcing services</a:t>
                      </a:r>
                    </a:p>
                  </a:txBody>
                  <a:tcPr marL="82296" marR="54864" marT="27432" marB="27432" anchor="ctr">
                    <a:solidFill>
                      <a:srgbClr val="FFFFFF"/>
                    </a:solidFill>
                  </a:tcPr>
                </a:tc>
                <a:tc>
                  <a:txBody>
                    <a:bodyPr wrap="square"/>
                    <a:lstStyle/>
                    <a:p>
                      <a:pPr algn="l"/>
                      <a:r>
                        <a:rPr sz="1200">
                          <a:solidFill>
                            <a:srgbClr val="1C1517"/>
                          </a:solidFill>
                          <a:latin typeface="Calibri"/>
                        </a:rPr>
                        <a:t>KD 19</a:t>
                      </a:r>
                    </a:p>
                  </a:txBody>
                  <a:tcPr marL="82296" marR="54864" marT="27432" marB="27432" anchor="ctr">
                    <a:solidFill>
                      <a:srgbClr val="FFFFFF"/>
                    </a:solidFill>
                  </a:tcPr>
                </a:tc>
                <a:tc>
                  <a:txBody>
                    <a:bodyPr wrap="square"/>
                    <a:lstStyle/>
                    <a:p>
                      <a:pPr algn="l"/>
                      <a:r>
                        <a:rPr sz="1200">
                          <a:solidFill>
                            <a:srgbClr val="1C1517"/>
                          </a:solidFill>
                          <a:latin typeface="Calibri"/>
                        </a:rPr>
                        <a:t>Vol 1,300 — high value</a:t>
                      </a:r>
                    </a:p>
                  </a:txBody>
                  <a:tcPr marL="82296" marR="54864" marT="27432" marB="27432" anchor="ctr">
                    <a:solidFill>
                      <a:srgbClr val="FFFFFF"/>
                    </a:solidFill>
                  </a:tcPr>
                </a:tc>
              </a:tr>
              <a:tr h="457200">
                <a:tc>
                  <a:txBody>
                    <a:bodyPr wrap="square"/>
                    <a:lstStyle/>
                    <a:p>
                      <a:pPr algn="l"/>
                      <a:r>
                        <a:rPr sz="1200">
                          <a:solidFill>
                            <a:srgbClr val="1C1517"/>
                          </a:solidFill>
                          <a:latin typeface="Calibri"/>
                        </a:rPr>
                        <a:t>IT Helpdesk</a:t>
                      </a:r>
                    </a:p>
                  </a:txBody>
                  <a:tcPr marL="82296" marR="54864" marT="27432" marB="27432" anchor="ctr">
                    <a:solidFill>
                      <a:srgbClr val="F7F1F3"/>
                    </a:solidFill>
                  </a:tcPr>
                </a:tc>
                <a:tc>
                  <a:txBody>
                    <a:bodyPr wrap="square"/>
                    <a:lstStyle/>
                    <a:p>
                      <a:pPr algn="l"/>
                      <a:r>
                        <a:rPr sz="1200">
                          <a:solidFill>
                            <a:srgbClr val="1C1517"/>
                          </a:solidFill>
                          <a:latin typeface="Calibri"/>
                        </a:rPr>
                        <a:t>white-label IT helpdesk services</a:t>
                      </a:r>
                    </a:p>
                  </a:txBody>
                  <a:tcPr marL="82296" marR="54864" marT="27432" marB="27432" anchor="ctr">
                    <a:solidFill>
                      <a:srgbClr val="F7F1F3"/>
                    </a:solidFill>
                  </a:tcPr>
                </a:tc>
                <a:tc>
                  <a:txBody>
                    <a:bodyPr wrap="square"/>
                    <a:lstStyle/>
                    <a:p>
                      <a:pPr algn="l"/>
                      <a:r>
                        <a:rPr sz="1200">
                          <a:solidFill>
                            <a:srgbClr val="1C1517"/>
                          </a:solidFill>
                          <a:latin typeface="Calibri"/>
                        </a:rPr>
                        <a:t>KD 16</a:t>
                      </a:r>
                    </a:p>
                  </a:txBody>
                  <a:tcPr marL="82296" marR="54864" marT="27432" marB="27432" anchor="ctr">
                    <a:solidFill>
                      <a:srgbClr val="F7F1F3"/>
                    </a:solidFill>
                  </a:tcPr>
                </a:tc>
                <a:tc>
                  <a:txBody>
                    <a:bodyPr wrap="square"/>
                    <a:lstStyle/>
                    <a:p>
                      <a:pPr algn="l"/>
                      <a:r>
                        <a:rPr sz="1200">
                          <a:solidFill>
                            <a:srgbClr val="1C1517"/>
                          </a:solidFill>
                          <a:latin typeface="Calibri"/>
                        </a:rPr>
                        <a:t>MSP reseller intent</a:t>
                      </a:r>
                    </a:p>
                  </a:txBody>
                  <a:tcPr marL="82296" marR="54864" marT="27432" marB="27432" anchor="ctr">
                    <a:solidFill>
                      <a:srgbClr val="F7F1F3"/>
                    </a:solidFill>
                  </a:tcPr>
                </a:tc>
              </a:tr>
              <a:tr h="457200">
                <a:tc>
                  <a:txBody>
                    <a:bodyPr wrap="square"/>
                    <a:lstStyle/>
                    <a:p>
                      <a:pPr algn="l"/>
                      <a:r>
                        <a:rPr sz="1200">
                          <a:solidFill>
                            <a:srgbClr val="1C1517"/>
                          </a:solidFill>
                          <a:latin typeface="Calibri"/>
                        </a:rPr>
                        <a:t>Cybersecurity</a:t>
                      </a:r>
                    </a:p>
                  </a:txBody>
                  <a:tcPr marL="82296" marR="54864" marT="27432" marB="27432" anchor="ctr">
                    <a:solidFill>
                      <a:srgbClr val="FFFFFF"/>
                    </a:solidFill>
                  </a:tcPr>
                </a:tc>
                <a:tc>
                  <a:txBody>
                    <a:bodyPr wrap="square"/>
                    <a:lstStyle/>
                    <a:p>
                      <a:pPr algn="l"/>
                      <a:r>
                        <a:rPr sz="1200">
                          <a:solidFill>
                            <a:srgbClr val="1C1517"/>
                          </a:solidFill>
                          <a:latin typeface="Calibri"/>
                        </a:rPr>
                        <a:t>SOC monitoring services USA</a:t>
                      </a:r>
                    </a:p>
                  </a:txBody>
                  <a:tcPr marL="82296" marR="54864" marT="27432" marB="27432" anchor="ctr">
                    <a:solidFill>
                      <a:srgbClr val="FFFFFF"/>
                    </a:solidFill>
                  </a:tcPr>
                </a:tc>
                <a:tc>
                  <a:txBody>
                    <a:bodyPr wrap="square"/>
                    <a:lstStyle/>
                    <a:p>
                      <a:pPr algn="l"/>
                      <a:r>
                        <a:rPr sz="1200">
                          <a:solidFill>
                            <a:srgbClr val="1C1517"/>
                          </a:solidFill>
                          <a:latin typeface="Calibri"/>
                        </a:rPr>
                        <a:t>KD 18</a:t>
                      </a:r>
                    </a:p>
                  </a:txBody>
                  <a:tcPr marL="82296" marR="54864" marT="27432" marB="27432" anchor="ctr">
                    <a:solidFill>
                      <a:srgbClr val="FFFFFF"/>
                    </a:solidFill>
                  </a:tcPr>
                </a:tc>
                <a:tc>
                  <a:txBody>
                    <a:bodyPr wrap="square"/>
                    <a:lstStyle/>
                    <a:p>
                      <a:pPr algn="l"/>
                      <a:r>
                        <a:rPr sz="1200">
                          <a:solidFill>
                            <a:srgbClr val="1C1517"/>
                          </a:solidFill>
                          <a:latin typeface="Calibri"/>
                        </a:rPr>
                        <a:t>Avoided $213-CPC MDR term</a:t>
                      </a:r>
                    </a:p>
                  </a:txBody>
                  <a:tcPr marL="82296" marR="54864" marT="27432" marB="27432" anchor="ctr">
                    <a:solidFill>
                      <a:srgbClr val="FFFFFF"/>
                    </a:solidFill>
                  </a:tcPr>
                </a:tc>
              </a:tr>
            </a:tbl>
          </a:graphicData>
        </a:graphic>
      </p:graphicFrame>
      <p:sp>
        <p:nvSpPr>
          <p:cNvPr id="8" name="TextBox 7"/>
          <p:cNvSpPr txBox="1"/>
          <p:nvPr/>
        </p:nvSpPr>
        <p:spPr>
          <a:xfrm>
            <a:off x="658368" y="5943600"/>
            <a:ext cx="10881360" cy="548640"/>
          </a:xfrm>
          <a:prstGeom prst="rect">
            <a:avLst/>
          </a:prstGeom>
          <a:noFill/>
        </p:spPr>
        <p:txBody>
          <a:bodyPr wrap="square">
            <a:spAutoFit/>
          </a:bodyPr>
          <a:lstStyle/>
          <a:p>
            <a:pPr algn="l">
              <a:lnSpc>
                <a:spcPct val="100000"/>
              </a:lnSpc>
              <a:spcAft>
                <a:spcPts val="400"/>
              </a:spcAft>
            </a:pPr>
            <a:r>
              <a:rPr sz="1200" b="1">
                <a:solidFill>
                  <a:srgbClr val="ED1164"/>
                </a:solidFill>
                <a:latin typeface="Calibri"/>
              </a:rPr>
              <a:t>Each page owns one primary keyword + a supporting cluster, so pages don't compete with each other.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7F8"/>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ED11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881360" cy="1051560"/>
          </a:xfrm>
          <a:prstGeom prst="rect">
            <a:avLst/>
          </a:prstGeom>
          <a:noFill/>
        </p:spPr>
        <p:txBody>
          <a:bodyPr wrap="square">
            <a:spAutoFit/>
          </a:bodyPr>
          <a:lstStyle/>
          <a:p>
            <a:pPr algn="l">
              <a:lnSpc>
                <a:spcPct val="100000"/>
              </a:lnSpc>
              <a:spcAft>
                <a:spcPts val="300"/>
              </a:spcAft>
            </a:pPr>
            <a:r>
              <a:rPr sz="1200" b="1">
                <a:solidFill>
                  <a:srgbClr val="ED1164"/>
                </a:solidFill>
                <a:latin typeface="Calibri"/>
              </a:rPr>
              <a:t>AEO — ANSWER ENGINE OPTIMIZATION</a:t>
            </a:r>
          </a:p>
          <a:p>
            <a:pPr algn="l">
              <a:lnSpc>
                <a:spcPct val="100000"/>
              </a:lnSpc>
              <a:spcAft>
                <a:spcPts val="400"/>
              </a:spcAft>
            </a:pPr>
            <a:r>
              <a:rPr sz="3000" b="1">
                <a:solidFill>
                  <a:srgbClr val="1C1517"/>
                </a:solidFill>
                <a:latin typeface="Calibri"/>
              </a:rPr>
              <a:t>Getting cited inside AI answers</a:t>
            </a:r>
          </a:p>
        </p:txBody>
      </p:sp>
      <p:sp>
        <p:nvSpPr>
          <p:cNvPr id="4" name="TextBox 3"/>
          <p:cNvSpPr txBox="1"/>
          <p:nvPr/>
        </p:nvSpPr>
        <p:spPr>
          <a:xfrm>
            <a:off x="11064240" y="384048"/>
            <a:ext cx="914400" cy="548640"/>
          </a:xfrm>
          <a:prstGeom prst="rect">
            <a:avLst/>
          </a:prstGeom>
          <a:noFill/>
        </p:spPr>
        <p:txBody>
          <a:bodyPr wrap="square">
            <a:spAutoFit/>
          </a:bodyPr>
          <a:lstStyle/>
          <a:p>
            <a:pPr algn="r">
              <a:lnSpc>
                <a:spcPct val="100000"/>
              </a:lnSpc>
              <a:spcAft>
                <a:spcPts val="400"/>
              </a:spcAft>
            </a:pPr>
            <a:r>
              <a:rPr sz="1200" b="0">
                <a:solidFill>
                  <a:srgbClr val="6F6265"/>
                </a:solidFill>
                <a:latin typeface="Calibri"/>
              </a:rPr>
              <a:t>04</a:t>
            </a:r>
          </a:p>
        </p:txBody>
      </p:sp>
      <p:sp>
        <p:nvSpPr>
          <p:cNvPr id="5" name="Rectangle 4"/>
          <p:cNvSpPr/>
          <p:nvPr/>
        </p:nvSpPr>
        <p:spPr>
          <a:xfrm>
            <a:off x="658368" y="1481328"/>
            <a:ext cx="10881360" cy="27432"/>
          </a:xfrm>
          <a:prstGeom prst="rect">
            <a:avLst/>
          </a:prstGeom>
          <a:solidFill>
            <a:srgbClr val="E8DF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691640"/>
            <a:ext cx="5212080" cy="4572000"/>
          </a:xfrm>
          <a:prstGeom prst="rect">
            <a:avLst/>
          </a:prstGeom>
          <a:noFill/>
        </p:spPr>
        <p:txBody>
          <a:bodyPr wrap="square">
            <a:spAutoFit/>
          </a:bodyPr>
          <a:lstStyle/>
          <a:p>
            <a:pPr algn="l">
              <a:lnSpc>
                <a:spcPct val="105000"/>
              </a:lnSpc>
              <a:spcAft>
                <a:spcPts val="900"/>
              </a:spcAft>
            </a:pPr>
            <a:r>
              <a:rPr sz="1500" b="1">
                <a:solidFill>
                  <a:srgbClr val="ED1164"/>
                </a:solidFill>
                <a:latin typeface="Calibri"/>
              </a:rPr>
              <a:t>What it is</a:t>
            </a:r>
            <a:r>
              <a:rPr sz="1250" b="1">
                <a:solidFill>
                  <a:srgbClr val="ED1164"/>
                </a:solidFill>
                <a:latin typeface="Calibri"/>
              </a:rPr>
              <a:t>›  </a:t>
            </a:r>
            <a:r>
              <a:rPr sz="1250" b="1">
                <a:solidFill>
                  <a:srgbClr val="1C1517"/>
                </a:solidFill>
                <a:latin typeface="Calibri"/>
              </a:rPr>
              <a:t>FAQs on 23 pages rewritten as real search queries </a:t>
            </a:r>
            <a:r>
              <a:rPr sz="1250">
                <a:solidFill>
                  <a:srgbClr val="6F6265"/>
                </a:solidFill>
                <a:latin typeface="Calibri"/>
              </a:rPr>
              <a:t>— the exact questions buyers type</a:t>
            </a:r>
          </a:p>
          <a:p>
            <a:pPr algn="l">
              <a:lnSpc>
                <a:spcPct val="110000"/>
              </a:lnSpc>
              <a:spcAft>
                <a:spcPts val="1400"/>
              </a:spcAft>
            </a:pPr>
            <a:r>
              <a:rPr sz="1300" b="0">
                <a:solidFill>
                  <a:srgbClr val="6F6265"/>
                </a:solidFill>
                <a:latin typeface="Calibri"/>
              </a:rPr>
              <a:t>Structuring content so Google AI Overviews, ChatGPT, Perplexity and Claude can lift precise answers directly from the site.</a:t>
            </a:r>
          </a:p>
          <a:p>
            <a:pPr algn="l">
              <a:lnSpc>
                <a:spcPct val="100000"/>
              </a:lnSpc>
              <a:spcAft>
                <a:spcPts val="800"/>
              </a:spcAft>
            </a:pPr>
            <a:r>
              <a:rPr sz="1500" b="1">
                <a:solidFill>
                  <a:srgbClr val="ED1164"/>
                </a:solidFill>
                <a:latin typeface="Calibri"/>
              </a:rPr>
              <a:t>What we did</a:t>
            </a:r>
          </a:p>
          <a:p>
            <a:pPr>
              <a:lnSpc>
                <a:spcPct val="105000"/>
              </a:lnSpc>
              <a:spcAft>
                <a:spcPts val="900"/>
              </a:spcAft>
            </a:pPr>
            <a:r>
              <a:rPr sz="1250" b="1">
                <a:solidFill>
                  <a:srgbClr val="ED1164"/>
                </a:solidFill>
                <a:latin typeface="Calibri"/>
              </a:rPr>
              <a:t>›  </a:t>
            </a:r>
            <a:r>
              <a:rPr sz="1250" b="1">
                <a:solidFill>
                  <a:srgbClr val="1C1517"/>
                </a:solidFill>
                <a:latin typeface="Calibri"/>
              </a:rPr>
              <a:t>FAQPage schema </a:t>
            </a:r>
            <a:r>
              <a:rPr sz="1250">
                <a:solidFill>
                  <a:srgbClr val="6F6265"/>
                </a:solidFill>
                <a:latin typeface="Calibri"/>
              </a:rPr>
              <a:t>on every service &amp; industry page + homepage</a:t>
            </a:r>
          </a:p>
          <a:p>
            <a:pPr>
              <a:lnSpc>
                <a:spcPct val="105000"/>
              </a:lnSpc>
              <a:spcAft>
                <a:spcPts val="900"/>
              </a:spcAft>
            </a:pPr>
            <a:r>
              <a:rPr sz="1250" b="1">
                <a:solidFill>
                  <a:srgbClr val="ED1164"/>
                </a:solidFill>
                <a:latin typeface="Calibri"/>
              </a:rPr>
              <a:t>›  </a:t>
            </a:r>
            <a:r>
              <a:rPr sz="1250" b="1">
                <a:solidFill>
                  <a:srgbClr val="1C1517"/>
                </a:solidFill>
                <a:latin typeface="Calibri"/>
              </a:rPr>
              <a:t>Answers open with a direct, citable sentence </a:t>
            </a:r>
            <a:r>
              <a:rPr sz="1250">
                <a:solidFill>
                  <a:srgbClr val="6F6265"/>
                </a:solidFill>
                <a:latin typeface="Calibri"/>
              </a:rPr>
              <a:t>(snippet-ready)</a:t>
            </a:r>
          </a:p>
        </p:txBody>
      </p:sp>
      <p:sp>
        <p:nvSpPr>
          <p:cNvPr id="7" name="Rounded Rectangle 6"/>
          <p:cNvSpPr/>
          <p:nvPr/>
        </p:nvSpPr>
        <p:spPr>
          <a:xfrm>
            <a:off x="6126480" y="1737360"/>
            <a:ext cx="5394960" cy="4480560"/>
          </a:xfrm>
          <a:prstGeom prst="roundRect">
            <a:avLst>
              <a:gd name="adj" fmla="val 8000"/>
            </a:avLst>
          </a:prstGeom>
          <a:solidFill>
            <a:srgbClr val="FDEAF2"/>
          </a:solidFill>
          <a:ln w="12700">
            <a:solidFill>
              <a:srgbClr val="E8DF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20240"/>
            <a:ext cx="5029200" cy="4206240"/>
          </a:xfrm>
          <a:prstGeom prst="rect">
            <a:avLst/>
          </a:prstGeom>
          <a:noFill/>
        </p:spPr>
        <p:txBody>
          <a:bodyPr wrap="square">
            <a:spAutoFit/>
          </a:bodyPr>
          <a:lstStyle/>
          <a:p>
            <a:pPr algn="l">
              <a:lnSpc>
                <a:spcPct val="100000"/>
              </a:lnSpc>
              <a:spcAft>
                <a:spcPts val="1000"/>
              </a:spcAft>
            </a:pPr>
            <a:r>
              <a:rPr sz="1100" b="1">
                <a:solidFill>
                  <a:srgbClr val="ED1164"/>
                </a:solidFill>
                <a:latin typeface="Calibri"/>
              </a:rPr>
              <a:t>EXAMPLE QUERY-STYLE FAQs (LIVE)</a:t>
            </a:r>
          </a:p>
          <a:p>
            <a:pPr algn="l">
              <a:lnSpc>
                <a:spcPct val="105000"/>
              </a:lnSpc>
              <a:spcAft>
                <a:spcPts val="1100"/>
              </a:spcAft>
            </a:pPr>
            <a:r>
              <a:rPr sz="1250" b="1">
                <a:solidFill>
                  <a:srgbClr val="1C1517"/>
                </a:solidFill>
                <a:latin typeface="Calibri"/>
              </a:rPr>
              <a:t>“How much do outsourced IT helpdesk services cost in the USA?”</a:t>
            </a:r>
          </a:p>
          <a:p>
            <a:pPr algn="l">
              <a:lnSpc>
                <a:spcPct val="105000"/>
              </a:lnSpc>
              <a:spcAft>
                <a:spcPts val="1100"/>
              </a:spcAft>
            </a:pPr>
            <a:r>
              <a:rPr sz="1250" b="1">
                <a:solidFill>
                  <a:srgbClr val="1C1517"/>
                </a:solidFill>
                <a:latin typeface="Calibri"/>
              </a:rPr>
              <a:t>“What is the difference between SOC monitoring and MDR?”</a:t>
            </a:r>
          </a:p>
          <a:p>
            <a:pPr algn="l">
              <a:lnSpc>
                <a:spcPct val="105000"/>
              </a:lnSpc>
              <a:spcAft>
                <a:spcPts val="1100"/>
              </a:spcAft>
            </a:pPr>
            <a:r>
              <a:rPr sz="1250" b="1">
                <a:solidFill>
                  <a:srgbClr val="1C1517"/>
                </a:solidFill>
                <a:latin typeface="Calibri"/>
              </a:rPr>
              <a:t>“Do you offer SOC as a service for MSPs?”</a:t>
            </a:r>
          </a:p>
          <a:p>
            <a:pPr algn="l">
              <a:lnSpc>
                <a:spcPct val="105000"/>
              </a:lnSpc>
              <a:spcAft>
                <a:spcPts val="1100"/>
              </a:spcAft>
            </a:pPr>
            <a:r>
              <a:rPr sz="1250" b="1">
                <a:solidFill>
                  <a:srgbClr val="1C1517"/>
                </a:solidFill>
                <a:latin typeface="Calibri"/>
              </a:rPr>
              <a:t>“Do you provide HIPAA-compliant managed IT for healthcare?”</a:t>
            </a:r>
          </a:p>
          <a:p>
            <a:pPr algn="l">
              <a:lnSpc>
                <a:spcPct val="105000"/>
              </a:lnSpc>
              <a:spcAft>
                <a:spcPts val="1100"/>
              </a:spcAft>
            </a:pPr>
            <a:r>
              <a:rPr sz="1250" b="1">
                <a:solidFill>
                  <a:srgbClr val="1C1517"/>
                </a:solidFill>
                <a:latin typeface="Calibri"/>
              </a:rPr>
              <a:t>“How much does IT staff augmentation cost in the USA?”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7F8"/>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ED11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881360" cy="1051560"/>
          </a:xfrm>
          <a:prstGeom prst="rect">
            <a:avLst/>
          </a:prstGeom>
          <a:noFill/>
        </p:spPr>
        <p:txBody>
          <a:bodyPr wrap="square">
            <a:spAutoFit/>
          </a:bodyPr>
          <a:lstStyle/>
          <a:p>
            <a:pPr algn="l">
              <a:lnSpc>
                <a:spcPct val="100000"/>
              </a:lnSpc>
              <a:spcAft>
                <a:spcPts val="300"/>
              </a:spcAft>
            </a:pPr>
            <a:r>
              <a:rPr sz="1200" b="1">
                <a:solidFill>
                  <a:srgbClr val="ED1164"/>
                </a:solidFill>
                <a:latin typeface="Calibri"/>
              </a:rPr>
              <a:t>GEO — GENERATIVE ENGINE OPTIMIZATION</a:t>
            </a:r>
          </a:p>
          <a:p>
            <a:pPr algn="l">
              <a:lnSpc>
                <a:spcPct val="100000"/>
              </a:lnSpc>
              <a:spcAft>
                <a:spcPts val="400"/>
              </a:spcAft>
            </a:pPr>
            <a:r>
              <a:rPr sz="3000" b="1">
                <a:solidFill>
                  <a:srgbClr val="1C1517"/>
                </a:solidFill>
                <a:latin typeface="Calibri"/>
              </a:rPr>
              <a:t>Being discoverable &amp; citable by AI platforms</a:t>
            </a:r>
          </a:p>
        </p:txBody>
      </p:sp>
      <p:sp>
        <p:nvSpPr>
          <p:cNvPr id="4" name="TextBox 3"/>
          <p:cNvSpPr txBox="1"/>
          <p:nvPr/>
        </p:nvSpPr>
        <p:spPr>
          <a:xfrm>
            <a:off x="11064240" y="384048"/>
            <a:ext cx="914400" cy="548640"/>
          </a:xfrm>
          <a:prstGeom prst="rect">
            <a:avLst/>
          </a:prstGeom>
          <a:noFill/>
        </p:spPr>
        <p:txBody>
          <a:bodyPr wrap="square">
            <a:spAutoFit/>
          </a:bodyPr>
          <a:lstStyle/>
          <a:p>
            <a:pPr algn="r">
              <a:lnSpc>
                <a:spcPct val="100000"/>
              </a:lnSpc>
              <a:spcAft>
                <a:spcPts val="400"/>
              </a:spcAft>
            </a:pPr>
            <a:r>
              <a:rPr sz="1200" b="0">
                <a:solidFill>
                  <a:srgbClr val="6F6265"/>
                </a:solidFill>
                <a:latin typeface="Calibri"/>
              </a:rPr>
              <a:t>05</a:t>
            </a:r>
          </a:p>
        </p:txBody>
      </p:sp>
      <p:sp>
        <p:nvSpPr>
          <p:cNvPr id="5" name="Rectangle 4"/>
          <p:cNvSpPr/>
          <p:nvPr/>
        </p:nvSpPr>
        <p:spPr>
          <a:xfrm>
            <a:off x="658368" y="1481328"/>
            <a:ext cx="10881360" cy="27432"/>
          </a:xfrm>
          <a:prstGeom prst="rect">
            <a:avLst/>
          </a:prstGeom>
          <a:solidFill>
            <a:srgbClr val="E8DF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737360"/>
            <a:ext cx="5212080" cy="4572000"/>
          </a:xfrm>
          <a:prstGeom prst="rect">
            <a:avLst/>
          </a:prstGeom>
          <a:noFill/>
        </p:spPr>
        <p:txBody>
          <a:bodyPr wrap="square">
            <a:spAutoFit/>
          </a:bodyPr>
          <a:lstStyle/>
          <a:p>
            <a:pPr algn="l">
              <a:lnSpc>
                <a:spcPct val="105000"/>
              </a:lnSpc>
              <a:spcAft>
                <a:spcPts val="800"/>
              </a:spcAft>
            </a:pPr>
            <a:r>
              <a:rPr sz="1500" b="1">
                <a:solidFill>
                  <a:srgbClr val="ED1164"/>
                </a:solidFill>
                <a:latin typeface="Calibri"/>
              </a:rPr>
              <a:t>What we did</a:t>
            </a:r>
            <a:r>
              <a:rPr sz="1250" b="1">
                <a:solidFill>
                  <a:srgbClr val="ED1164"/>
                </a:solidFill>
                <a:latin typeface="Calibri"/>
              </a:rPr>
              <a:t>›  </a:t>
            </a:r>
            <a:r>
              <a:rPr sz="1250" b="1">
                <a:solidFill>
                  <a:srgbClr val="1C1517"/>
                </a:solidFill>
                <a:latin typeface="Calibri"/>
              </a:rPr>
              <a:t>12 AI crawlers explicitly allowlisted </a:t>
            </a:r>
            <a:r>
              <a:rPr sz="1250">
                <a:solidFill>
                  <a:srgbClr val="6F6265"/>
                </a:solidFill>
                <a:latin typeface="Calibri"/>
              </a:rPr>
              <a:t>in robots.txt</a:t>
            </a:r>
          </a:p>
          <a:p>
            <a:pPr>
              <a:lnSpc>
                <a:spcPct val="105000"/>
              </a:lnSpc>
              <a:spcAft>
                <a:spcPts val="800"/>
              </a:spcAft>
            </a:pPr>
            <a:r>
              <a:rPr sz="1250" b="1">
                <a:solidFill>
                  <a:srgbClr val="ED1164"/>
                </a:solidFill>
                <a:latin typeface="Calibri"/>
              </a:rPr>
              <a:t>›  </a:t>
            </a:r>
            <a:r>
              <a:rPr sz="1250" b="1">
                <a:solidFill>
                  <a:srgbClr val="1C1517"/>
                </a:solidFill>
                <a:latin typeface="Calibri"/>
              </a:rPr>
              <a:t>GPTBot, ChatGPT-User, OAI-SearchBot </a:t>
            </a:r>
            <a:r>
              <a:rPr sz="1250">
                <a:solidFill>
                  <a:srgbClr val="6F6265"/>
                </a:solidFill>
                <a:latin typeface="Calibri"/>
              </a:rPr>
              <a:t>(OpenAI)</a:t>
            </a:r>
          </a:p>
          <a:p>
            <a:pPr>
              <a:lnSpc>
                <a:spcPct val="105000"/>
              </a:lnSpc>
              <a:spcAft>
                <a:spcPts val="800"/>
              </a:spcAft>
            </a:pPr>
            <a:r>
              <a:rPr sz="1250" b="1">
                <a:solidFill>
                  <a:srgbClr val="ED1164"/>
                </a:solidFill>
                <a:latin typeface="Calibri"/>
              </a:rPr>
              <a:t>›  </a:t>
            </a:r>
            <a:r>
              <a:rPr sz="1250" b="1">
                <a:solidFill>
                  <a:srgbClr val="1C1517"/>
                </a:solidFill>
                <a:latin typeface="Calibri"/>
              </a:rPr>
              <a:t>PerplexityBot, ClaudeBot, Claude-SearchBot</a:t>
            </a:r>
            <a:r>
              <a:rPr sz="1250">
                <a:solidFill>
                  <a:srgbClr val="6F6265"/>
                </a:solidFill>
                <a:latin typeface="Calibri"/>
              </a:rPr>
              <a:t/>
            </a:r>
          </a:p>
          <a:p>
            <a:pPr>
              <a:lnSpc>
                <a:spcPct val="105000"/>
              </a:lnSpc>
              <a:spcAft>
                <a:spcPts val="800"/>
              </a:spcAft>
            </a:pPr>
            <a:r>
              <a:rPr sz="1250" b="1">
                <a:solidFill>
                  <a:srgbClr val="ED1164"/>
                </a:solidFill>
                <a:latin typeface="Calibri"/>
              </a:rPr>
              <a:t>›  </a:t>
            </a:r>
            <a:r>
              <a:rPr sz="1250" b="1">
                <a:solidFill>
                  <a:srgbClr val="1C1517"/>
                </a:solidFill>
                <a:latin typeface="Calibri"/>
              </a:rPr>
              <a:t>Google-Extended, Applebot-Extended, CCBot</a:t>
            </a:r>
            <a:r>
              <a:rPr sz="1250">
                <a:solidFill>
                  <a:srgbClr val="6F6265"/>
                </a:solidFill>
                <a:latin typeface="Calibri"/>
              </a:rPr>
              <a:t/>
            </a:r>
          </a:p>
          <a:p>
            <a:pPr>
              <a:lnSpc>
                <a:spcPct val="105000"/>
              </a:lnSpc>
              <a:spcAft>
                <a:spcPts val="800"/>
              </a:spcAft>
            </a:pPr>
            <a:r>
              <a:rPr sz="1250" b="1">
                <a:solidFill>
                  <a:srgbClr val="ED1164"/>
                </a:solidFill>
                <a:latin typeface="Calibri"/>
              </a:rPr>
              <a:t>›  </a:t>
            </a:r>
            <a:r>
              <a:rPr sz="1250" b="1">
                <a:solidFill>
                  <a:srgbClr val="1C1517"/>
                </a:solidFill>
                <a:latin typeface="Calibri"/>
              </a:rPr>
              <a:t>Published /llms.txt </a:t>
            </a:r>
            <a:r>
              <a:rPr sz="1250">
                <a:solidFill>
                  <a:srgbClr val="6F6265"/>
                </a:solidFill>
                <a:latin typeface="Calibri"/>
              </a:rPr>
              <a:t>— a curated, citation-ready company summary for LLMs</a:t>
            </a:r>
          </a:p>
          <a:p>
            <a:pPr>
              <a:lnSpc>
                <a:spcPct val="105000"/>
              </a:lnSpc>
              <a:spcAft>
                <a:spcPts val="800"/>
              </a:spcAft>
            </a:pPr>
            <a:r>
              <a:rPr sz="1250" b="1">
                <a:solidFill>
                  <a:srgbClr val="ED1164"/>
                </a:solidFill>
                <a:latin typeface="Calibri"/>
              </a:rPr>
              <a:t>›  </a:t>
            </a:r>
            <a:r>
              <a:rPr sz="1250" b="1">
                <a:solidFill>
                  <a:srgbClr val="1C1517"/>
                </a:solidFill>
                <a:latin typeface="Calibri"/>
              </a:rPr>
              <a:t>Corrected llms.txt facts </a:t>
            </a:r>
            <a:r>
              <a:rPr sz="1250">
                <a:solidFill>
                  <a:srgbClr val="6F6265"/>
                </a:solidFill>
                <a:latin typeface="Calibri"/>
              </a:rPr>
              <a:t>— removed a false Houston HQ, fixed canonical host</a:t>
            </a:r>
          </a:p>
          <a:p>
            <a:pPr>
              <a:lnSpc>
                <a:spcPct val="105000"/>
              </a:lnSpc>
              <a:spcAft>
                <a:spcPts val="800"/>
              </a:spcAft>
            </a:pPr>
            <a:r>
              <a:rPr sz="1250" b="1">
                <a:solidFill>
                  <a:srgbClr val="ED1164"/>
                </a:solidFill>
                <a:latin typeface="Calibri"/>
              </a:rPr>
              <a:t>›  </a:t>
            </a:r>
            <a:r>
              <a:rPr sz="1250" b="1">
                <a:solidFill>
                  <a:srgbClr val="1C1517"/>
                </a:solidFill>
                <a:latin typeface="Calibri"/>
              </a:rPr>
              <a:t>Server-rendered structured data </a:t>
            </a:r>
            <a:r>
              <a:rPr sz="1250">
                <a:solidFill>
                  <a:srgbClr val="6F6265"/>
                </a:solidFill>
                <a:latin typeface="Calibri"/>
              </a:rPr>
              <a:t>so crawlers see everything without running JS</a:t>
            </a:r>
          </a:p>
        </p:txBody>
      </p:sp>
      <p:sp>
        <p:nvSpPr>
          <p:cNvPr id="7" name="Rounded Rectangle 6"/>
          <p:cNvSpPr/>
          <p:nvPr/>
        </p:nvSpPr>
        <p:spPr>
          <a:xfrm>
            <a:off x="6126480" y="1783080"/>
            <a:ext cx="5394960" cy="4389120"/>
          </a:xfrm>
          <a:prstGeom prst="roundRect">
            <a:avLst>
              <a:gd name="adj" fmla="val 8000"/>
            </a:avLst>
          </a:prstGeom>
          <a:solidFill>
            <a:srgbClr val="FFFFFF"/>
          </a:solidFill>
          <a:ln w="12700">
            <a:solidFill>
              <a:srgbClr val="E8DF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114800"/>
          </a:xfrm>
          <a:prstGeom prst="rect">
            <a:avLst/>
          </a:prstGeom>
          <a:noFill/>
        </p:spPr>
        <p:txBody>
          <a:bodyPr wrap="square">
            <a:spAutoFit/>
          </a:bodyPr>
          <a:lstStyle/>
          <a:p>
            <a:pPr algn="l">
              <a:lnSpc>
                <a:spcPct val="105000"/>
              </a:lnSpc>
              <a:spcAft>
                <a:spcPts val="600"/>
              </a:spcAft>
            </a:pPr>
            <a:r>
              <a:rPr sz="1100" b="1">
                <a:solidFill>
                  <a:srgbClr val="ED1164"/>
                </a:solidFill>
                <a:latin typeface="Calibri"/>
              </a:rPr>
              <a:t>WHY GEO MATTERS</a:t>
            </a:r>
            <a:r>
              <a:rPr sz="1250" b="1">
                <a:solidFill>
                  <a:srgbClr val="ED1164"/>
                </a:solidFill>
                <a:latin typeface="Calibri"/>
              </a:rPr>
              <a:t>›  </a:t>
            </a:r>
            <a:r>
              <a:rPr sz="1250">
                <a:solidFill>
                  <a:srgbClr val="1C1517"/>
                </a:solidFill>
                <a:latin typeface="Calibri"/>
              </a:rPr>
              <a:t>Crawlable by every major AI bot</a:t>
            </a:r>
          </a:p>
          <a:p>
            <a:pPr algn="l">
              <a:lnSpc>
                <a:spcPct val="112000"/>
              </a:lnSpc>
              <a:spcAft>
                <a:spcPts val="1200"/>
              </a:spcAft>
            </a:pPr>
            <a:r>
              <a:rPr sz="1250" b="0">
                <a:solidFill>
                  <a:srgbClr val="6F6265"/>
                </a:solidFill>
                <a:latin typeface="Calibri"/>
              </a:rPr>
              <a:t>Buyers increasingly ask AI assistants for vendor recommendations instead of scrolling Google. To be named in those answers, the AI engines must be allowed to crawl the site AND find clean, structured facts.</a:t>
            </a:r>
          </a:p>
          <a:p>
            <a:pPr algn="l">
              <a:lnSpc>
                <a:spcPct val="100000"/>
              </a:lnSpc>
              <a:spcAft>
                <a:spcPts val="600"/>
              </a:spcAft>
            </a:pPr>
            <a:r>
              <a:rPr sz="1250" b="1">
                <a:solidFill>
                  <a:srgbClr val="1C1517"/>
                </a:solidFill>
                <a:latin typeface="Calibri"/>
              </a:rPr>
              <a:t>MindWhiz is now set up to be:</a:t>
            </a:r>
          </a:p>
          <a:p>
            <a:pPr>
              <a:lnSpc>
                <a:spcPct val="105000"/>
              </a:lnSpc>
              <a:spcAft>
                <a:spcPts val="600"/>
              </a:spcAft>
            </a:pPr>
            <a:r>
              <a:rPr sz="1250" b="1">
                <a:solidFill>
                  <a:srgbClr val="ED1164"/>
                </a:solidFill>
                <a:latin typeface="Calibri"/>
              </a:rPr>
              <a:t>›  </a:t>
            </a:r>
            <a:r>
              <a:rPr sz="1250">
                <a:solidFill>
                  <a:srgbClr val="1C1517"/>
                </a:solidFill>
                <a:latin typeface="Calibri"/>
              </a:rPr>
              <a:t>Summarized on our terms via llms.txt</a:t>
            </a:r>
          </a:p>
          <a:p>
            <a:pPr>
              <a:lnSpc>
                <a:spcPct val="105000"/>
              </a:lnSpc>
              <a:spcAft>
                <a:spcPts val="600"/>
              </a:spcAft>
            </a:pPr>
            <a:r>
              <a:rPr sz="1250" b="1">
                <a:solidFill>
                  <a:srgbClr val="ED1164"/>
                </a:solidFill>
                <a:latin typeface="Calibri"/>
              </a:rPr>
              <a:t>›  </a:t>
            </a:r>
            <a:r>
              <a:rPr sz="1250">
                <a:solidFill>
                  <a:srgbClr val="1C1517"/>
                </a:solidFill>
                <a:latin typeface="Calibri"/>
              </a:rPr>
              <a:t>Cited via FAQ + Service + Org schema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7F8"/>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ED11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881360" cy="1051560"/>
          </a:xfrm>
          <a:prstGeom prst="rect">
            <a:avLst/>
          </a:prstGeom>
          <a:noFill/>
        </p:spPr>
        <p:txBody>
          <a:bodyPr wrap="square">
            <a:spAutoFit/>
          </a:bodyPr>
          <a:lstStyle/>
          <a:p>
            <a:pPr algn="l">
              <a:lnSpc>
                <a:spcPct val="100000"/>
              </a:lnSpc>
              <a:spcAft>
                <a:spcPts val="300"/>
              </a:spcAft>
            </a:pPr>
            <a:r>
              <a:rPr sz="1200" b="1">
                <a:solidFill>
                  <a:srgbClr val="ED1164"/>
                </a:solidFill>
                <a:latin typeface="Calibri"/>
              </a:rPr>
              <a:t>TECHNICAL SEO</a:t>
            </a:r>
          </a:p>
          <a:p>
            <a:pPr algn="l">
              <a:lnSpc>
                <a:spcPct val="100000"/>
              </a:lnSpc>
              <a:spcAft>
                <a:spcPts val="400"/>
              </a:spcAft>
            </a:pPr>
            <a:r>
              <a:rPr sz="3000" b="1">
                <a:solidFill>
                  <a:srgbClr val="1C1517"/>
                </a:solidFill>
                <a:latin typeface="Calibri"/>
              </a:rPr>
              <a:t>Structured data, crawlability &amp; security</a:t>
            </a:r>
          </a:p>
        </p:txBody>
      </p:sp>
      <p:sp>
        <p:nvSpPr>
          <p:cNvPr id="4" name="TextBox 3"/>
          <p:cNvSpPr txBox="1"/>
          <p:nvPr/>
        </p:nvSpPr>
        <p:spPr>
          <a:xfrm>
            <a:off x="11064240" y="384048"/>
            <a:ext cx="914400" cy="548640"/>
          </a:xfrm>
          <a:prstGeom prst="rect">
            <a:avLst/>
          </a:prstGeom>
          <a:noFill/>
        </p:spPr>
        <p:txBody>
          <a:bodyPr wrap="square">
            <a:spAutoFit/>
          </a:bodyPr>
          <a:lstStyle/>
          <a:p>
            <a:pPr algn="r">
              <a:lnSpc>
                <a:spcPct val="100000"/>
              </a:lnSpc>
              <a:spcAft>
                <a:spcPts val="400"/>
              </a:spcAft>
            </a:pPr>
            <a:r>
              <a:rPr sz="1200" b="0">
                <a:solidFill>
                  <a:srgbClr val="6F6265"/>
                </a:solidFill>
                <a:latin typeface="Calibri"/>
              </a:rPr>
              <a:t>06</a:t>
            </a:r>
          </a:p>
        </p:txBody>
      </p:sp>
      <p:sp>
        <p:nvSpPr>
          <p:cNvPr id="5" name="Rectangle 4"/>
          <p:cNvSpPr/>
          <p:nvPr/>
        </p:nvSpPr>
        <p:spPr>
          <a:xfrm>
            <a:off x="658368" y="1481328"/>
            <a:ext cx="10881360" cy="27432"/>
          </a:xfrm>
          <a:prstGeom prst="rect">
            <a:avLst/>
          </a:prstGeom>
          <a:solidFill>
            <a:srgbClr val="E8DF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691640"/>
            <a:ext cx="5212080" cy="4754880"/>
          </a:xfrm>
          <a:prstGeom prst="rect">
            <a:avLst/>
          </a:prstGeom>
          <a:noFill/>
        </p:spPr>
        <p:txBody>
          <a:bodyPr wrap="square">
            <a:spAutoFit/>
          </a:bodyPr>
          <a:lstStyle/>
          <a:p>
            <a:pPr algn="l">
              <a:lnSpc>
                <a:spcPct val="105000"/>
              </a:lnSpc>
              <a:spcAft>
                <a:spcPts val="600"/>
              </a:spcAft>
            </a:pPr>
            <a:r>
              <a:rPr sz="1400" b="1">
                <a:solidFill>
                  <a:srgbClr val="ED1164"/>
                </a:solidFill>
                <a:latin typeface="Calibri"/>
              </a:rPr>
              <a:t>Structured data — 8 Schema.org types</a:t>
            </a:r>
            <a:r>
              <a:rPr sz="1250" b="1">
                <a:solidFill>
                  <a:srgbClr val="ED1164"/>
                </a:solidFill>
                <a:latin typeface="Calibri"/>
              </a:rPr>
              <a:t>›  </a:t>
            </a:r>
            <a:r>
              <a:rPr sz="1250">
                <a:solidFill>
                  <a:srgbClr val="1C1517"/>
                </a:solidFill>
                <a:latin typeface="Calibri"/>
              </a:rPr>
              <a:t>Organization + ProfessionalService + LocalBusiness</a:t>
            </a:r>
            <a:r>
              <a:rPr sz="1250" b="1">
                <a:solidFill>
                  <a:srgbClr val="ED1164"/>
                </a:solidFill>
                <a:latin typeface="Calibri"/>
              </a:rPr>
              <a:t>›  </a:t>
            </a:r>
            <a:r>
              <a:rPr sz="1250" b="1">
                <a:solidFill>
                  <a:srgbClr val="1C1517"/>
                </a:solidFill>
                <a:latin typeface="Calibri"/>
              </a:rPr>
              <a:t>Dynamic XML sitemap </a:t>
            </a:r>
            <a:r>
              <a:rPr sz="1250">
                <a:solidFill>
                  <a:srgbClr val="6F6265"/>
                </a:solidFill>
                <a:latin typeface="Calibri"/>
              </a:rPr>
              <a:t>— auto-built from all pages</a:t>
            </a:r>
          </a:p>
          <a:p>
            <a:pPr>
              <a:lnSpc>
                <a:spcPct val="105000"/>
              </a:lnSpc>
              <a:spcAft>
                <a:spcPts val="600"/>
              </a:spcAft>
            </a:pPr>
            <a:r>
              <a:rPr sz="1250" b="1">
                <a:solidFill>
                  <a:srgbClr val="ED1164"/>
                </a:solidFill>
                <a:latin typeface="Calibri"/>
              </a:rPr>
              <a:t>›  </a:t>
            </a:r>
            <a:r>
              <a:rPr sz="1250">
                <a:solidFill>
                  <a:srgbClr val="1C1517"/>
                </a:solidFill>
                <a:latin typeface="Calibri"/>
              </a:rPr>
              <a:t>WebSite · Service · FAQPage</a:t>
            </a:r>
          </a:p>
          <a:p>
            <a:pPr>
              <a:lnSpc>
                <a:spcPct val="105000"/>
              </a:lnSpc>
              <a:spcAft>
                <a:spcPts val="600"/>
              </a:spcAft>
            </a:pPr>
            <a:r>
              <a:rPr sz="1250" b="1">
                <a:solidFill>
                  <a:srgbClr val="ED1164"/>
                </a:solidFill>
                <a:latin typeface="Calibri"/>
              </a:rPr>
              <a:t>›  </a:t>
            </a:r>
            <a:r>
              <a:rPr sz="1250">
                <a:solidFill>
                  <a:srgbClr val="1C1517"/>
                </a:solidFill>
                <a:latin typeface="Calibri"/>
              </a:rPr>
              <a:t>BreadcrumbList · Article · BlogPosting</a:t>
            </a:r>
          </a:p>
          <a:p>
            <a:pPr algn="l">
              <a:lnSpc>
                <a:spcPct val="100000"/>
              </a:lnSpc>
              <a:spcAft>
                <a:spcPts val="200"/>
              </a:spcAft>
            </a:pPr>
            <a:r>
              <a:rPr sz="600" b="0">
                <a:solidFill>
                  <a:srgbClr val="1C1517"/>
                </a:solidFill>
                <a:latin typeface="Calibri"/>
              </a:rPr>
              <a:t>  </a:t>
            </a:r>
          </a:p>
          <a:p>
            <a:pPr algn="l">
              <a:lnSpc>
                <a:spcPct val="100000"/>
              </a:lnSpc>
              <a:spcAft>
                <a:spcPts val="700"/>
              </a:spcAft>
            </a:pPr>
            <a:r>
              <a:rPr sz="1400" b="1">
                <a:solidFill>
                  <a:srgbClr val="ED1164"/>
                </a:solidFill>
                <a:latin typeface="Calibri"/>
              </a:rPr>
              <a:t>Crawlability &amp; indexing</a:t>
            </a:r>
          </a:p>
          <a:p>
            <a:pPr>
              <a:lnSpc>
                <a:spcPct val="105000"/>
              </a:lnSpc>
              <a:spcAft>
                <a:spcPts val="600"/>
              </a:spcAft>
            </a:pPr>
            <a:r>
              <a:rPr sz="1250" b="1">
                <a:solidFill>
                  <a:srgbClr val="ED1164"/>
                </a:solidFill>
                <a:latin typeface="Calibri"/>
              </a:rPr>
              <a:t>›  </a:t>
            </a:r>
            <a:r>
              <a:rPr sz="1250" b="1">
                <a:solidFill>
                  <a:srgbClr val="1C1517"/>
                </a:solidFill>
                <a:latin typeface="Calibri"/>
              </a:rPr>
              <a:t>robots.txt </a:t>
            </a:r>
            <a:r>
              <a:rPr sz="1250">
                <a:solidFill>
                  <a:srgbClr val="6F6265"/>
                </a:solidFill>
                <a:latin typeface="Calibri"/>
              </a:rPr>
              <a:t>with sitemap reference</a:t>
            </a:r>
          </a:p>
          <a:p>
            <a:pPr>
              <a:lnSpc>
                <a:spcPct val="105000"/>
              </a:lnSpc>
              <a:spcAft>
                <a:spcPts val="600"/>
              </a:spcAft>
            </a:pPr>
            <a:r>
              <a:rPr sz="1250" b="1">
                <a:solidFill>
                  <a:srgbClr val="ED1164"/>
                </a:solidFill>
                <a:latin typeface="Calibri"/>
              </a:rPr>
              <a:t>›  </a:t>
            </a:r>
            <a:r>
              <a:rPr sz="1250" b="1">
                <a:solidFill>
                  <a:srgbClr val="1C1517"/>
                </a:solidFill>
                <a:latin typeface="Calibri"/>
              </a:rPr>
              <a:t>Self-referencing canonicals </a:t>
            </a:r>
            <a:r>
              <a:rPr sz="1250">
                <a:solidFill>
                  <a:srgbClr val="6F6265"/>
                </a:solidFill>
                <a:latin typeface="Calibri"/>
              </a:rPr>
              <a:t>+ apex 308 → www</a:t>
            </a:r>
          </a:p>
          <a:p>
            <a:pPr>
              <a:lnSpc>
                <a:spcPct val="105000"/>
              </a:lnSpc>
              <a:spcAft>
                <a:spcPts val="600"/>
              </a:spcAft>
            </a:pPr>
            <a:r>
              <a:rPr sz="1250" b="1">
                <a:solidFill>
                  <a:srgbClr val="ED1164"/>
                </a:solidFill>
                <a:latin typeface="Calibri"/>
              </a:rPr>
              <a:t>›  </a:t>
            </a:r>
            <a:r>
              <a:rPr sz="1250" b="1">
                <a:solidFill>
                  <a:srgbClr val="1C1517"/>
                </a:solidFill>
                <a:latin typeface="Calibri"/>
              </a:rPr>
              <a:t>Google Search Console </a:t>
            </a:r>
            <a:r>
              <a:rPr sz="1250">
                <a:solidFill>
                  <a:srgbClr val="6F6265"/>
                </a:solidFill>
                <a:latin typeface="Calibri"/>
              </a:rPr>
              <a:t>verification in place</a:t>
            </a:r>
          </a:p>
        </p:txBody>
      </p:sp>
      <p:sp>
        <p:nvSpPr>
          <p:cNvPr id="7" name="Rounded Rectangle 6"/>
          <p:cNvSpPr/>
          <p:nvPr/>
        </p:nvSpPr>
        <p:spPr>
          <a:xfrm>
            <a:off x="6126480" y="1737360"/>
            <a:ext cx="5394960" cy="4480560"/>
          </a:xfrm>
          <a:prstGeom prst="roundRect">
            <a:avLst>
              <a:gd name="adj" fmla="val 8000"/>
            </a:avLst>
          </a:prstGeom>
          <a:solidFill>
            <a:srgbClr val="FFFFFF"/>
          </a:solidFill>
          <a:ln w="12700">
            <a:solidFill>
              <a:srgbClr val="E8DF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20240"/>
            <a:ext cx="5029200" cy="4206240"/>
          </a:xfrm>
          <a:prstGeom prst="rect">
            <a:avLst/>
          </a:prstGeom>
          <a:noFill/>
        </p:spPr>
        <p:txBody>
          <a:bodyPr wrap="square">
            <a:spAutoFit/>
          </a:bodyPr>
          <a:lstStyle/>
          <a:p>
            <a:pPr algn="l">
              <a:lnSpc>
                <a:spcPct val="105000"/>
              </a:lnSpc>
              <a:spcAft>
                <a:spcPts val="800"/>
              </a:spcAft>
            </a:pPr>
            <a:r>
              <a:rPr sz="1100" b="1">
                <a:solidFill>
                  <a:srgbClr val="ED1164"/>
                </a:solidFill>
                <a:latin typeface="Calibri"/>
              </a:rPr>
              <a:t>SECURITY &amp; HYGIENE (VERIFIED IN CODE)</a:t>
            </a:r>
            <a:r>
              <a:rPr sz="1250" b="1">
                <a:solidFill>
                  <a:srgbClr val="ED1164"/>
                </a:solidFill>
                <a:latin typeface="Calibri"/>
              </a:rPr>
              <a:t>›  </a:t>
            </a:r>
            <a:r>
              <a:rPr sz="1250" b="1">
                <a:solidFill>
                  <a:srgbClr val="1C1517"/>
                </a:solidFill>
                <a:latin typeface="Calibri"/>
              </a:rPr>
              <a:t>HTTPS + HSTS </a:t>
            </a:r>
            <a:r>
              <a:rPr sz="1250">
                <a:solidFill>
                  <a:srgbClr val="6F6265"/>
                </a:solidFill>
                <a:latin typeface="Calibri"/>
              </a:rPr>
              <a:t>(2-yr, preload)</a:t>
            </a:r>
          </a:p>
          <a:p>
            <a:pPr>
              <a:lnSpc>
                <a:spcPct val="105000"/>
              </a:lnSpc>
              <a:spcAft>
                <a:spcPts val="800"/>
              </a:spcAft>
            </a:pPr>
            <a:r>
              <a:rPr sz="1250" b="1">
                <a:solidFill>
                  <a:srgbClr val="ED1164"/>
                </a:solidFill>
                <a:latin typeface="Calibri"/>
              </a:rPr>
              <a:t>›  </a:t>
            </a:r>
            <a:r>
              <a:rPr sz="1250" b="1">
                <a:solidFill>
                  <a:srgbClr val="1C1517"/>
                </a:solidFill>
                <a:latin typeface="Calibri"/>
              </a:rPr>
              <a:t>CSP + security headers </a:t>
            </a:r>
            <a:r>
              <a:rPr sz="1250">
                <a:solidFill>
                  <a:srgbClr val="6F6265"/>
                </a:solidFill>
                <a:latin typeface="Calibri"/>
              </a:rPr>
              <a:t>(X-Frame, nosniff, Referrer-Policy)</a:t>
            </a:r>
          </a:p>
          <a:p>
            <a:pPr>
              <a:lnSpc>
                <a:spcPct val="105000"/>
              </a:lnSpc>
              <a:spcAft>
                <a:spcPts val="800"/>
              </a:spcAft>
            </a:pPr>
            <a:r>
              <a:rPr sz="1250" b="1">
                <a:solidFill>
                  <a:srgbClr val="ED1164"/>
                </a:solidFill>
                <a:latin typeface="Calibri"/>
              </a:rPr>
              <a:t>›  </a:t>
            </a:r>
            <a:r>
              <a:rPr sz="1250" b="1">
                <a:solidFill>
                  <a:srgbClr val="1C1517"/>
                </a:solidFill>
                <a:latin typeface="Calibri"/>
              </a:rPr>
              <a:t>JSON-LD XSS-escaped </a:t>
            </a:r>
            <a:r>
              <a:rPr sz="1250">
                <a:solidFill>
                  <a:srgbClr val="6F6265"/>
                </a:solidFill>
                <a:latin typeface="Calibri"/>
              </a:rPr>
              <a:t>(safe structured data)</a:t>
            </a:r>
          </a:p>
          <a:p>
            <a:pPr>
              <a:lnSpc>
                <a:spcPct val="105000"/>
              </a:lnSpc>
              <a:spcAft>
                <a:spcPts val="800"/>
              </a:spcAft>
            </a:pPr>
            <a:r>
              <a:rPr sz="1250" b="1">
                <a:solidFill>
                  <a:srgbClr val="ED1164"/>
                </a:solidFill>
                <a:latin typeface="Calibri"/>
              </a:rPr>
              <a:t>›  </a:t>
            </a:r>
            <a:r>
              <a:rPr sz="1250" b="1">
                <a:solidFill>
                  <a:srgbClr val="1C1517"/>
                </a:solidFill>
                <a:latin typeface="Calibri"/>
              </a:rPr>
              <a:t>All redirects single-hop 301 </a:t>
            </a:r>
            <a:r>
              <a:rPr sz="1250">
                <a:solidFill>
                  <a:srgbClr val="6F6265"/>
                </a:solidFill>
                <a:latin typeface="Calibri"/>
              </a:rPr>
              <a:t>(no chains)</a:t>
            </a:r>
          </a:p>
          <a:p>
            <a:pPr>
              <a:lnSpc>
                <a:spcPct val="105000"/>
              </a:lnSpc>
              <a:spcAft>
                <a:spcPts val="800"/>
              </a:spcAft>
            </a:pPr>
            <a:r>
              <a:rPr sz="1250" b="1">
                <a:solidFill>
                  <a:srgbClr val="ED1164"/>
                </a:solidFill>
                <a:latin typeface="Calibri"/>
              </a:rPr>
              <a:t>›  </a:t>
            </a:r>
            <a:r>
              <a:rPr sz="1250" b="1">
                <a:solidFill>
                  <a:srgbClr val="1C1517"/>
                </a:solidFill>
                <a:latin typeface="Calibri"/>
              </a:rPr>
              <a:t>Hyphenated, short URLs</a:t>
            </a:r>
            <a:r>
              <a:rPr sz="1250">
                <a:solidFill>
                  <a:srgbClr val="6F6265"/>
                </a:solidFill>
                <a:latin typeface="Calibri"/>
              </a:rPr>
              <a:t/>
            </a:r>
          </a:p>
          <a:p>
            <a:pPr>
              <a:lnSpc>
                <a:spcPct val="105000"/>
              </a:lnSpc>
              <a:spcAft>
                <a:spcPts val="800"/>
              </a:spcAft>
            </a:pPr>
            <a:r>
              <a:rPr sz="1250" b="1">
                <a:solidFill>
                  <a:srgbClr val="ED1164"/>
                </a:solidFill>
                <a:latin typeface="Calibri"/>
              </a:rPr>
              <a:t>›  </a:t>
            </a:r>
            <a:r>
              <a:rPr sz="1250" b="1">
                <a:solidFill>
                  <a:srgbClr val="1C1517"/>
                </a:solidFill>
                <a:latin typeface="Calibri"/>
              </a:rPr>
              <a:t>58-point audit: 41 clean, 7 real issues (fixed), 10 need live-crawl tools</a:t>
            </a:r>
            <a:r>
              <a:rPr sz="1250">
                <a:solidFill>
                  <a:srgbClr val="6F6265"/>
                </a:solidFill>
                <a:latin typeface="Calibri"/>
              </a:rPr>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7F8"/>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ED11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881360" cy="1051560"/>
          </a:xfrm>
          <a:prstGeom prst="rect">
            <a:avLst/>
          </a:prstGeom>
          <a:noFill/>
        </p:spPr>
        <p:txBody>
          <a:bodyPr wrap="square">
            <a:spAutoFit/>
          </a:bodyPr>
          <a:lstStyle/>
          <a:p>
            <a:pPr algn="l">
              <a:lnSpc>
                <a:spcPct val="100000"/>
              </a:lnSpc>
              <a:spcAft>
                <a:spcPts val="300"/>
              </a:spcAft>
            </a:pPr>
            <a:r>
              <a:rPr sz="1200" b="1">
                <a:solidFill>
                  <a:srgbClr val="ED1164"/>
                </a:solidFill>
                <a:latin typeface="Calibri"/>
              </a:rPr>
              <a:t>LOCAL SEO &amp; ENTITY</a:t>
            </a:r>
          </a:p>
          <a:p>
            <a:pPr algn="l">
              <a:lnSpc>
                <a:spcPct val="100000"/>
              </a:lnSpc>
              <a:spcAft>
                <a:spcPts val="400"/>
              </a:spcAft>
            </a:pPr>
            <a:r>
              <a:rPr sz="3000" b="1">
                <a:solidFill>
                  <a:srgbClr val="1C1517"/>
                </a:solidFill>
                <a:latin typeface="Calibri"/>
              </a:rPr>
              <a:t>Consistent NAP and geo-targeting</a:t>
            </a:r>
          </a:p>
        </p:txBody>
      </p:sp>
      <p:sp>
        <p:nvSpPr>
          <p:cNvPr id="4" name="TextBox 3"/>
          <p:cNvSpPr txBox="1"/>
          <p:nvPr/>
        </p:nvSpPr>
        <p:spPr>
          <a:xfrm>
            <a:off x="11064240" y="384048"/>
            <a:ext cx="914400" cy="548640"/>
          </a:xfrm>
          <a:prstGeom prst="rect">
            <a:avLst/>
          </a:prstGeom>
          <a:noFill/>
        </p:spPr>
        <p:txBody>
          <a:bodyPr wrap="square">
            <a:spAutoFit/>
          </a:bodyPr>
          <a:lstStyle/>
          <a:p>
            <a:pPr algn="r">
              <a:lnSpc>
                <a:spcPct val="100000"/>
              </a:lnSpc>
              <a:spcAft>
                <a:spcPts val="400"/>
              </a:spcAft>
            </a:pPr>
            <a:r>
              <a:rPr sz="1200" b="0">
                <a:solidFill>
                  <a:srgbClr val="6F6265"/>
                </a:solidFill>
                <a:latin typeface="Calibri"/>
              </a:rPr>
              <a:t>07</a:t>
            </a:r>
          </a:p>
        </p:txBody>
      </p:sp>
      <p:sp>
        <p:nvSpPr>
          <p:cNvPr id="5" name="Rectangle 4"/>
          <p:cNvSpPr/>
          <p:nvPr/>
        </p:nvSpPr>
        <p:spPr>
          <a:xfrm>
            <a:off x="658368" y="1481328"/>
            <a:ext cx="10881360" cy="27432"/>
          </a:xfrm>
          <a:prstGeom prst="rect">
            <a:avLst/>
          </a:prstGeom>
          <a:solidFill>
            <a:srgbClr val="E8DF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737360"/>
            <a:ext cx="5212080" cy="4572000"/>
          </a:xfrm>
          <a:prstGeom prst="rect">
            <a:avLst/>
          </a:prstGeom>
          <a:noFill/>
        </p:spPr>
        <p:txBody>
          <a:bodyPr wrap="square">
            <a:spAutoFit/>
          </a:bodyPr>
          <a:lstStyle/>
          <a:p>
            <a:pPr algn="l">
              <a:lnSpc>
                <a:spcPct val="105000"/>
              </a:lnSpc>
              <a:spcAft>
                <a:spcPts val="900"/>
              </a:spcAft>
            </a:pPr>
            <a:r>
              <a:rPr sz="1500" b="1">
                <a:solidFill>
                  <a:srgbClr val="ED1164"/>
                </a:solidFill>
                <a:latin typeface="Calibri"/>
              </a:rPr>
              <a:t>What we did</a:t>
            </a:r>
            <a:r>
              <a:rPr sz="1250" b="1">
                <a:solidFill>
                  <a:srgbClr val="ED1164"/>
                </a:solidFill>
                <a:latin typeface="Calibri"/>
              </a:rPr>
              <a:t>›  </a:t>
            </a:r>
            <a:r>
              <a:rPr sz="1250" b="1">
                <a:solidFill>
                  <a:srgbClr val="1C1517"/>
                </a:solidFill>
                <a:latin typeface="Calibri"/>
              </a:rPr>
              <a:t>Single, honest NAP </a:t>
            </a:r>
            <a:r>
              <a:rPr sz="1250">
                <a:solidFill>
                  <a:srgbClr val="6F6265"/>
                </a:solidFill>
                <a:latin typeface="Calibri"/>
              </a:rPr>
              <a:t>— Lahore head office in schema, matching the Google Business Profile</a:t>
            </a:r>
          </a:p>
          <a:p>
            <a:pPr>
              <a:lnSpc>
                <a:spcPct val="105000"/>
              </a:lnSpc>
              <a:spcAft>
                <a:spcPts val="900"/>
              </a:spcAft>
            </a:pPr>
            <a:r>
              <a:rPr sz="1250" b="1">
                <a:solidFill>
                  <a:srgbClr val="ED1164"/>
                </a:solidFill>
                <a:latin typeface="Calibri"/>
              </a:rPr>
              <a:t>›  </a:t>
            </a:r>
            <a:r>
              <a:rPr sz="1250" b="1">
                <a:solidFill>
                  <a:srgbClr val="1C1517"/>
                </a:solidFill>
                <a:latin typeface="Calibri"/>
              </a:rPr>
              <a:t>Removed a false “Houston, TX HQ” </a:t>
            </a:r>
            <a:r>
              <a:rPr sz="1250">
                <a:solidFill>
                  <a:srgbClr val="6F6265"/>
                </a:solidFill>
                <a:latin typeface="Calibri"/>
              </a:rPr>
              <a:t>that contradicted the real address (llms.txt)</a:t>
            </a:r>
          </a:p>
          <a:p>
            <a:pPr>
              <a:lnSpc>
                <a:spcPct val="105000"/>
              </a:lnSpc>
              <a:spcAft>
                <a:spcPts val="900"/>
              </a:spcAft>
            </a:pPr>
            <a:r>
              <a:rPr sz="1250" b="1">
                <a:solidFill>
                  <a:srgbClr val="ED1164"/>
                </a:solidFill>
                <a:latin typeface="Calibri"/>
              </a:rPr>
              <a:t>›  </a:t>
            </a:r>
            <a:r>
              <a:rPr sz="1250" b="1">
                <a:solidFill>
                  <a:srgbClr val="1C1517"/>
                </a:solidFill>
                <a:latin typeface="Calibri"/>
              </a:rPr>
              <a:t>areaServed = US, UK, PK </a:t>
            </a:r>
            <a:r>
              <a:rPr sz="1250">
                <a:solidFill>
                  <a:srgbClr val="6F6265"/>
                </a:solidFill>
                <a:latin typeface="Calibri"/>
              </a:rPr>
              <a:t>ties the brand to US/UK buyer intent</a:t>
            </a:r>
          </a:p>
          <a:p>
            <a:pPr>
              <a:lnSpc>
                <a:spcPct val="105000"/>
              </a:lnSpc>
              <a:spcAft>
                <a:spcPts val="900"/>
              </a:spcAft>
            </a:pPr>
            <a:r>
              <a:rPr sz="1250" b="1">
                <a:solidFill>
                  <a:srgbClr val="ED1164"/>
                </a:solidFill>
                <a:latin typeface="Calibri"/>
              </a:rPr>
              <a:t>›  </a:t>
            </a:r>
            <a:r>
              <a:rPr sz="1250" b="1">
                <a:solidFill>
                  <a:srgbClr val="1C1517"/>
                </a:solidFill>
                <a:latin typeface="Calibri"/>
              </a:rPr>
              <a:t>Dedicated location pages </a:t>
            </a:r>
            <a:r>
              <a:rPr sz="1250">
                <a:solidFill>
                  <a:srgbClr val="6F6265"/>
                </a:solidFill>
                <a:latin typeface="Calibri"/>
              </a:rPr>
              <a:t>/locations/us · /uk · /pk</a:t>
            </a:r>
          </a:p>
          <a:p>
            <a:pPr>
              <a:lnSpc>
                <a:spcPct val="105000"/>
              </a:lnSpc>
              <a:spcAft>
                <a:spcPts val="900"/>
              </a:spcAft>
            </a:pPr>
            <a:r>
              <a:rPr sz="1250" b="1">
                <a:solidFill>
                  <a:srgbClr val="ED1164"/>
                </a:solidFill>
                <a:latin typeface="Calibri"/>
              </a:rPr>
              <a:t>›  </a:t>
            </a:r>
            <a:r>
              <a:rPr sz="1250" b="1">
                <a:solidFill>
                  <a:srgbClr val="1C1517"/>
                </a:solidFill>
                <a:latin typeface="Calibri"/>
              </a:rPr>
              <a:t>US sales line modelled as a ContactPoint </a:t>
            </a:r>
            <a:r>
              <a:rPr sz="1250">
                <a:solidFill>
                  <a:srgbClr val="6F6265"/>
                </a:solidFill>
                <a:latin typeface="Calibri"/>
              </a:rPr>
              <a:t>— a channel, not a fake storefront</a:t>
            </a:r>
          </a:p>
        </p:txBody>
      </p:sp>
      <p:sp>
        <p:nvSpPr>
          <p:cNvPr id="7" name="Rounded Rectangle 6"/>
          <p:cNvSpPr/>
          <p:nvPr/>
        </p:nvSpPr>
        <p:spPr>
          <a:xfrm>
            <a:off x="6126480" y="1783080"/>
            <a:ext cx="5394960" cy="4023360"/>
          </a:xfrm>
          <a:prstGeom prst="roundRect">
            <a:avLst>
              <a:gd name="adj" fmla="val 8000"/>
            </a:avLst>
          </a:prstGeom>
          <a:solidFill>
            <a:srgbClr val="FDEAF2"/>
          </a:solidFill>
          <a:ln w="12700">
            <a:solidFill>
              <a:srgbClr val="E8DF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3749039"/>
          </a:xfrm>
          <a:prstGeom prst="rect">
            <a:avLst/>
          </a:prstGeom>
          <a:noFill/>
        </p:spPr>
        <p:txBody>
          <a:bodyPr wrap="square">
            <a:spAutoFit/>
          </a:bodyPr>
          <a:lstStyle/>
          <a:p>
            <a:pPr algn="l">
              <a:lnSpc>
                <a:spcPct val="100000"/>
              </a:lnSpc>
              <a:spcAft>
                <a:spcPts val="800"/>
              </a:spcAft>
            </a:pPr>
            <a:r>
              <a:rPr sz="1100" b="1">
                <a:solidFill>
                  <a:srgbClr val="ED1164"/>
                </a:solidFill>
                <a:latin typeface="Calibri"/>
              </a:rPr>
              <a:t>WHY THIS MATTERS</a:t>
            </a:r>
          </a:p>
          <a:p>
            <a:pPr algn="l">
              <a:lnSpc>
                <a:spcPct val="112000"/>
              </a:lnSpc>
              <a:spcAft>
                <a:spcPts val="1000"/>
              </a:spcAft>
            </a:pPr>
            <a:r>
              <a:rPr sz="1250" b="0">
                <a:solidFill>
                  <a:srgbClr val="6F6265"/>
                </a:solidFill>
                <a:latin typeface="Calibri"/>
              </a:rPr>
              <a:t>Inconsistent Name/Address/Phone across a site and directories is a top local-ranking killer and can get a Google Business Profile suspended.</a:t>
            </a:r>
          </a:p>
          <a:p>
            <a:pPr algn="l">
              <a:lnSpc>
                <a:spcPct val="112000"/>
              </a:lnSpc>
              <a:spcAft>
                <a:spcPts val="400"/>
              </a:spcAft>
            </a:pPr>
            <a:r>
              <a:rPr sz="1250" b="1">
                <a:solidFill>
                  <a:srgbClr val="1C1517"/>
                </a:solidFill>
                <a:latin typeface="Calibri"/>
              </a:rPr>
              <a:t>MindWhiz now presents one consistent entity everywhere — the real Lahore delivery hub serving US &amp; UK clients.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7F8"/>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ED11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881360" cy="1051560"/>
          </a:xfrm>
          <a:prstGeom prst="rect">
            <a:avLst/>
          </a:prstGeom>
          <a:noFill/>
        </p:spPr>
        <p:txBody>
          <a:bodyPr wrap="square">
            <a:spAutoFit/>
          </a:bodyPr>
          <a:lstStyle/>
          <a:p>
            <a:pPr algn="l">
              <a:lnSpc>
                <a:spcPct val="100000"/>
              </a:lnSpc>
              <a:spcAft>
                <a:spcPts val="300"/>
              </a:spcAft>
            </a:pPr>
            <a:r>
              <a:rPr sz="1200" b="1">
                <a:solidFill>
                  <a:srgbClr val="ED1164"/>
                </a:solidFill>
                <a:latin typeface="Calibri"/>
              </a:rPr>
              <a:t>GOOGLE PAGESPEED</a:t>
            </a:r>
          </a:p>
          <a:p>
            <a:pPr algn="l">
              <a:lnSpc>
                <a:spcPct val="100000"/>
              </a:lnSpc>
              <a:spcAft>
                <a:spcPts val="400"/>
              </a:spcAft>
            </a:pPr>
            <a:r>
              <a:rPr sz="3000" b="1">
                <a:solidFill>
                  <a:srgbClr val="1C1517"/>
                </a:solidFill>
                <a:latin typeface="Calibri"/>
              </a:rPr>
              <a:t>Core Web Vitals — real results</a:t>
            </a:r>
          </a:p>
        </p:txBody>
      </p:sp>
      <p:sp>
        <p:nvSpPr>
          <p:cNvPr id="4" name="TextBox 3"/>
          <p:cNvSpPr txBox="1"/>
          <p:nvPr/>
        </p:nvSpPr>
        <p:spPr>
          <a:xfrm>
            <a:off x="11064240" y="384048"/>
            <a:ext cx="914400" cy="548640"/>
          </a:xfrm>
          <a:prstGeom prst="rect">
            <a:avLst/>
          </a:prstGeom>
          <a:noFill/>
        </p:spPr>
        <p:txBody>
          <a:bodyPr wrap="square">
            <a:spAutoFit/>
          </a:bodyPr>
          <a:lstStyle/>
          <a:p>
            <a:pPr algn="r">
              <a:lnSpc>
                <a:spcPct val="100000"/>
              </a:lnSpc>
              <a:spcAft>
                <a:spcPts val="400"/>
              </a:spcAft>
            </a:pPr>
            <a:r>
              <a:rPr sz="1200" b="0">
                <a:solidFill>
                  <a:srgbClr val="6F6265"/>
                </a:solidFill>
                <a:latin typeface="Calibri"/>
              </a:rPr>
              <a:t>08</a:t>
            </a:r>
          </a:p>
        </p:txBody>
      </p:sp>
      <p:sp>
        <p:nvSpPr>
          <p:cNvPr id="5" name="Rectangle 4"/>
          <p:cNvSpPr/>
          <p:nvPr/>
        </p:nvSpPr>
        <p:spPr>
          <a:xfrm>
            <a:off x="658368" y="1481328"/>
            <a:ext cx="10881360" cy="27432"/>
          </a:xfrm>
          <a:prstGeom prst="rect">
            <a:avLst/>
          </a:prstGeom>
          <a:solidFill>
            <a:srgbClr val="E8DF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572768"/>
            <a:ext cx="10881360" cy="457200"/>
          </a:xfrm>
          <a:prstGeom prst="rect">
            <a:avLst/>
          </a:prstGeom>
          <a:noFill/>
        </p:spPr>
        <p:txBody>
          <a:bodyPr wrap="square">
            <a:spAutoFit/>
          </a:bodyPr>
          <a:lstStyle/>
          <a:p>
            <a:pPr algn="l">
              <a:lnSpc>
                <a:spcPct val="105000"/>
              </a:lnSpc>
              <a:spcAft>
                <a:spcPts val="400"/>
              </a:spcAft>
            </a:pPr>
            <a:r>
              <a:rPr sz="1200" b="0">
                <a:solidFill>
                  <a:srgbClr val="6F6265"/>
                </a:solidFill>
                <a:latin typeface="Calibri"/>
              </a:rPr>
              <a:t>The homepage was a 33 MB page with a 14 MB auto-playing hero video as the LCP element. After the rebuild, desktop now scores 88 with a 1.1 s LCP.</a:t>
            </a:r>
          </a:p>
        </p:txBody>
      </p:sp>
      <p:sp>
        <p:nvSpPr>
          <p:cNvPr id="7" name="TextBox 6"/>
          <p:cNvSpPr txBox="1"/>
          <p:nvPr/>
        </p:nvSpPr>
        <p:spPr>
          <a:xfrm>
            <a:off x="658368" y="2148840"/>
            <a:ext cx="6400800" cy="320040"/>
          </a:xfrm>
          <a:prstGeom prst="rect">
            <a:avLst/>
          </a:prstGeom>
          <a:noFill/>
        </p:spPr>
        <p:txBody>
          <a:bodyPr wrap="square">
            <a:spAutoFit/>
          </a:bodyPr>
          <a:lstStyle/>
          <a:p>
            <a:pPr algn="l">
              <a:lnSpc>
                <a:spcPct val="100000"/>
              </a:lnSpc>
              <a:spcAft>
                <a:spcPts val="400"/>
              </a:spcAft>
            </a:pPr>
            <a:r>
              <a:rPr sz="1100" b="1">
                <a:solidFill>
                  <a:srgbClr val="ED1164"/>
                </a:solidFill>
                <a:latin typeface="Calibri"/>
              </a:rPr>
              <a:t>LIGHTHOUSE SCORES — DESKTOP (LIVE)</a:t>
            </a:r>
          </a:p>
        </p:txBody>
      </p:sp>
      <p:sp>
        <p:nvSpPr>
          <p:cNvPr id="8" name="Rounded Rectangle 7"/>
          <p:cNvSpPr/>
          <p:nvPr/>
        </p:nvSpPr>
        <p:spPr>
          <a:xfrm>
            <a:off x="658368" y="2514600"/>
            <a:ext cx="2615184" cy="1051560"/>
          </a:xfrm>
          <a:prstGeom prst="roundRect">
            <a:avLst>
              <a:gd name="adj" fmla="val 8000"/>
            </a:avLst>
          </a:prstGeom>
          <a:solidFill>
            <a:srgbClr val="FFFFFF"/>
          </a:solidFill>
          <a:ln w="12700">
            <a:solidFill>
              <a:srgbClr val="E8DF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514600"/>
            <a:ext cx="2615184" cy="64008"/>
          </a:xfrm>
          <a:prstGeom prst="rect">
            <a:avLst/>
          </a:prstGeom>
          <a:solidFill>
            <a:srgbClr val="B068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2660904"/>
            <a:ext cx="2340864" cy="777239"/>
          </a:xfrm>
          <a:prstGeom prst="rect">
            <a:avLst/>
          </a:prstGeom>
          <a:noFill/>
        </p:spPr>
        <p:txBody>
          <a:bodyPr wrap="square">
            <a:spAutoFit/>
          </a:bodyPr>
          <a:lstStyle/>
          <a:p>
            <a:pPr algn="l">
              <a:lnSpc>
                <a:spcPct val="100000"/>
              </a:lnSpc>
              <a:spcAft>
                <a:spcPts val="200"/>
              </a:spcAft>
            </a:pPr>
            <a:r>
              <a:rPr sz="3000" b="1">
                <a:solidFill>
                  <a:srgbClr val="B0680A"/>
                </a:solidFill>
                <a:latin typeface="Calibri"/>
              </a:rPr>
              <a:t>88</a:t>
            </a:r>
          </a:p>
          <a:p>
            <a:pPr algn="l">
              <a:lnSpc>
                <a:spcPct val="95000"/>
              </a:lnSpc>
              <a:spcAft>
                <a:spcPts val="400"/>
              </a:spcAft>
            </a:pPr>
            <a:r>
              <a:rPr sz="1050" b="0">
                <a:solidFill>
                  <a:srgbClr val="6F6265"/>
                </a:solidFill>
                <a:latin typeface="Calibri"/>
              </a:rPr>
              <a:t>Performance</a:t>
            </a:r>
          </a:p>
        </p:txBody>
      </p:sp>
      <p:sp>
        <p:nvSpPr>
          <p:cNvPr id="11" name="Rounded Rectangle 10"/>
          <p:cNvSpPr/>
          <p:nvPr/>
        </p:nvSpPr>
        <p:spPr>
          <a:xfrm>
            <a:off x="3419856" y="2514600"/>
            <a:ext cx="2615184" cy="1051560"/>
          </a:xfrm>
          <a:prstGeom prst="roundRect">
            <a:avLst>
              <a:gd name="adj" fmla="val 8000"/>
            </a:avLst>
          </a:prstGeom>
          <a:solidFill>
            <a:srgbClr val="FFFFFF"/>
          </a:solidFill>
          <a:ln w="12700">
            <a:solidFill>
              <a:srgbClr val="E8DF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19856" y="2514600"/>
            <a:ext cx="2615184" cy="64008"/>
          </a:xfrm>
          <a:prstGeom prst="rect">
            <a:avLst/>
          </a:prstGeom>
          <a:solidFill>
            <a:srgbClr val="167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57016" y="2660904"/>
            <a:ext cx="2340864" cy="777239"/>
          </a:xfrm>
          <a:prstGeom prst="rect">
            <a:avLst/>
          </a:prstGeom>
          <a:noFill/>
        </p:spPr>
        <p:txBody>
          <a:bodyPr wrap="square">
            <a:spAutoFit/>
          </a:bodyPr>
          <a:lstStyle/>
          <a:p>
            <a:pPr algn="l">
              <a:lnSpc>
                <a:spcPct val="100000"/>
              </a:lnSpc>
              <a:spcAft>
                <a:spcPts val="200"/>
              </a:spcAft>
            </a:pPr>
            <a:r>
              <a:rPr sz="3000" b="1">
                <a:solidFill>
                  <a:srgbClr val="16794A"/>
                </a:solidFill>
                <a:latin typeface="Calibri"/>
              </a:rPr>
              <a:t>96</a:t>
            </a:r>
          </a:p>
          <a:p>
            <a:pPr algn="l">
              <a:lnSpc>
                <a:spcPct val="95000"/>
              </a:lnSpc>
              <a:spcAft>
                <a:spcPts val="400"/>
              </a:spcAft>
            </a:pPr>
            <a:r>
              <a:rPr sz="1050" b="0">
                <a:solidFill>
                  <a:srgbClr val="6F6265"/>
                </a:solidFill>
                <a:latin typeface="Calibri"/>
              </a:rPr>
              <a:t>Accessibility</a:t>
            </a:r>
          </a:p>
        </p:txBody>
      </p:sp>
      <p:sp>
        <p:nvSpPr>
          <p:cNvPr id="14" name="Rounded Rectangle 13"/>
          <p:cNvSpPr/>
          <p:nvPr/>
        </p:nvSpPr>
        <p:spPr>
          <a:xfrm>
            <a:off x="6181344" y="2514600"/>
            <a:ext cx="2615184" cy="1051560"/>
          </a:xfrm>
          <a:prstGeom prst="roundRect">
            <a:avLst>
              <a:gd name="adj" fmla="val 8000"/>
            </a:avLst>
          </a:prstGeom>
          <a:solidFill>
            <a:srgbClr val="FFFFFF"/>
          </a:solidFill>
          <a:ln w="12700">
            <a:solidFill>
              <a:srgbClr val="E8DF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81344" y="2514600"/>
            <a:ext cx="2615184" cy="64008"/>
          </a:xfrm>
          <a:prstGeom prst="rect">
            <a:avLst/>
          </a:prstGeom>
          <a:solidFill>
            <a:srgbClr val="B068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18504" y="2660904"/>
            <a:ext cx="2340864" cy="777239"/>
          </a:xfrm>
          <a:prstGeom prst="rect">
            <a:avLst/>
          </a:prstGeom>
          <a:noFill/>
        </p:spPr>
        <p:txBody>
          <a:bodyPr wrap="square">
            <a:spAutoFit/>
          </a:bodyPr>
          <a:lstStyle/>
          <a:p>
            <a:pPr algn="l">
              <a:lnSpc>
                <a:spcPct val="100000"/>
              </a:lnSpc>
              <a:spcAft>
                <a:spcPts val="200"/>
              </a:spcAft>
            </a:pPr>
            <a:r>
              <a:rPr sz="3000" b="1">
                <a:solidFill>
                  <a:srgbClr val="B0680A"/>
                </a:solidFill>
                <a:latin typeface="Calibri"/>
              </a:rPr>
              <a:t>77</a:t>
            </a:r>
          </a:p>
          <a:p>
            <a:pPr algn="l">
              <a:lnSpc>
                <a:spcPct val="95000"/>
              </a:lnSpc>
              <a:spcAft>
                <a:spcPts val="400"/>
              </a:spcAft>
            </a:pPr>
            <a:r>
              <a:rPr sz="1050" b="0">
                <a:solidFill>
                  <a:srgbClr val="6F6265"/>
                </a:solidFill>
                <a:latin typeface="Calibri"/>
              </a:rPr>
              <a:t>Best Practices</a:t>
            </a:r>
          </a:p>
        </p:txBody>
      </p:sp>
      <p:sp>
        <p:nvSpPr>
          <p:cNvPr id="17" name="Rounded Rectangle 16"/>
          <p:cNvSpPr/>
          <p:nvPr/>
        </p:nvSpPr>
        <p:spPr>
          <a:xfrm>
            <a:off x="8942832" y="2514600"/>
            <a:ext cx="2615184" cy="1051560"/>
          </a:xfrm>
          <a:prstGeom prst="roundRect">
            <a:avLst>
              <a:gd name="adj" fmla="val 8000"/>
            </a:avLst>
          </a:prstGeom>
          <a:solidFill>
            <a:srgbClr val="FFFFFF"/>
          </a:solidFill>
          <a:ln w="12700">
            <a:solidFill>
              <a:srgbClr val="E8DF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942832" y="2514600"/>
            <a:ext cx="2615184" cy="64008"/>
          </a:xfrm>
          <a:prstGeom prst="rect">
            <a:avLst/>
          </a:prstGeom>
          <a:solidFill>
            <a:srgbClr val="167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79992" y="2660904"/>
            <a:ext cx="2340864" cy="777239"/>
          </a:xfrm>
          <a:prstGeom prst="rect">
            <a:avLst/>
          </a:prstGeom>
          <a:noFill/>
        </p:spPr>
        <p:txBody>
          <a:bodyPr wrap="square">
            <a:spAutoFit/>
          </a:bodyPr>
          <a:lstStyle/>
          <a:p>
            <a:pPr algn="l">
              <a:lnSpc>
                <a:spcPct val="100000"/>
              </a:lnSpc>
              <a:spcAft>
                <a:spcPts val="200"/>
              </a:spcAft>
            </a:pPr>
            <a:r>
              <a:rPr sz="3000" b="1">
                <a:solidFill>
                  <a:srgbClr val="16794A"/>
                </a:solidFill>
                <a:latin typeface="Calibri"/>
              </a:rPr>
              <a:t>92</a:t>
            </a:r>
          </a:p>
          <a:p>
            <a:pPr algn="l">
              <a:lnSpc>
                <a:spcPct val="95000"/>
              </a:lnSpc>
              <a:spcAft>
                <a:spcPts val="400"/>
              </a:spcAft>
            </a:pPr>
            <a:r>
              <a:rPr sz="1050" b="0">
                <a:solidFill>
                  <a:srgbClr val="6F6265"/>
                </a:solidFill>
                <a:latin typeface="Calibri"/>
              </a:rPr>
              <a:t>SEO</a:t>
            </a:r>
          </a:p>
        </p:txBody>
      </p:sp>
      <p:sp>
        <p:nvSpPr>
          <p:cNvPr id="20" name="TextBox 19"/>
          <p:cNvSpPr txBox="1"/>
          <p:nvPr/>
        </p:nvSpPr>
        <p:spPr>
          <a:xfrm>
            <a:off x="658368" y="3794760"/>
            <a:ext cx="6675120" cy="320040"/>
          </a:xfrm>
          <a:prstGeom prst="rect">
            <a:avLst/>
          </a:prstGeom>
          <a:noFill/>
        </p:spPr>
        <p:txBody>
          <a:bodyPr wrap="square">
            <a:spAutoFit/>
          </a:bodyPr>
          <a:lstStyle/>
          <a:p>
            <a:pPr algn="l">
              <a:lnSpc>
                <a:spcPct val="100000"/>
              </a:lnSpc>
              <a:spcAft>
                <a:spcPts val="400"/>
              </a:spcAft>
            </a:pPr>
            <a:r>
              <a:rPr sz="1100" b="1">
                <a:solidFill>
                  <a:srgbClr val="ED1164"/>
                </a:solidFill>
                <a:latin typeface="Calibri"/>
              </a:rPr>
              <a:t>CORE WEB VITALS (DESKTOP)</a:t>
            </a:r>
          </a:p>
        </p:txBody>
      </p:sp>
      <p:graphicFrame>
        <p:nvGraphicFramePr>
          <p:cNvPr id="21" name="Table 20"/>
          <p:cNvGraphicFramePr>
            <a:graphicFrameLocks noGrp="1"/>
          </p:cNvGraphicFramePr>
          <p:nvPr/>
        </p:nvGraphicFramePr>
        <p:xfrm>
          <a:off x="658368" y="4160520"/>
          <a:ext cx="6675118" cy="1920240"/>
        </p:xfrm>
        <a:graphic>
          <a:graphicData uri="http://schemas.openxmlformats.org/drawingml/2006/table">
            <a:tbl>
              <a:tblPr>
                <a:tableStyleId>{5C22544A-7EE6-4342-B048-85BDC9FD1C3A}</a:tableStyleId>
              </a:tblPr>
              <a:tblGrid>
                <a:gridCol w="2634915"/>
                <a:gridCol w="2634915"/>
                <a:gridCol w="1405288"/>
              </a:tblGrid>
              <a:tr h="384048">
                <a:tc>
                  <a:txBody>
                    <a:bodyPr wrap="square"/>
                    <a:lstStyle/>
                    <a:p>
                      <a:pPr algn="l"/>
                      <a:r>
                        <a:rPr sz="1100" b="1">
                          <a:solidFill>
                            <a:srgbClr val="FFFFFF"/>
                          </a:solidFill>
                          <a:latin typeface="Calibri"/>
                        </a:rPr>
                        <a:t>Metric</a:t>
                      </a:r>
                    </a:p>
                  </a:txBody>
                  <a:tcPr marL="82296" marR="54864" marT="27432" marB="27432" anchor="ctr">
                    <a:solidFill>
                      <a:srgbClr val="1C1517"/>
                    </a:solidFill>
                  </a:tcPr>
                </a:tc>
                <a:tc>
                  <a:txBody>
                    <a:bodyPr wrap="square"/>
                    <a:lstStyle/>
                    <a:p>
                      <a:pPr algn="l"/>
                      <a:r>
                        <a:rPr sz="1100" b="1">
                          <a:solidFill>
                            <a:srgbClr val="FFFFFF"/>
                          </a:solidFill>
                          <a:latin typeface="Calibri"/>
                        </a:rPr>
                        <a:t>Value</a:t>
                      </a:r>
                    </a:p>
                  </a:txBody>
                  <a:tcPr marL="82296" marR="54864" marT="27432" marB="27432" anchor="ctr">
                    <a:solidFill>
                      <a:srgbClr val="1C1517"/>
                    </a:solidFill>
                  </a:tcPr>
                </a:tc>
                <a:tc>
                  <a:txBody>
                    <a:bodyPr wrap="square"/>
                    <a:lstStyle/>
                    <a:p>
                      <a:pPr algn="l"/>
                      <a:r>
                        <a:rPr sz="1100" b="1">
                          <a:solidFill>
                            <a:srgbClr val="FFFFFF"/>
                          </a:solidFill>
                          <a:latin typeface="Calibri"/>
                        </a:rPr>
                        <a:t>Rating</a:t>
                      </a:r>
                    </a:p>
                  </a:txBody>
                  <a:tcPr marL="82296" marR="54864" marT="27432" marB="27432" anchor="ctr">
                    <a:solidFill>
                      <a:srgbClr val="1C1517"/>
                    </a:solidFill>
                  </a:tcPr>
                </a:tc>
              </a:tr>
              <a:tr h="384048">
                <a:tc>
                  <a:txBody>
                    <a:bodyPr wrap="square"/>
                    <a:lstStyle/>
                    <a:p>
                      <a:pPr algn="l"/>
                      <a:r>
                        <a:rPr sz="1200">
                          <a:solidFill>
                            <a:srgbClr val="1C1517"/>
                          </a:solidFill>
                          <a:latin typeface="Calibri"/>
                        </a:rPr>
                        <a:t>First Contentful Paint</a:t>
                      </a:r>
                    </a:p>
                  </a:txBody>
                  <a:tcPr marL="82296" marR="54864" marT="27432" marB="27432" anchor="ctr">
                    <a:solidFill>
                      <a:srgbClr val="FFFFFF"/>
                    </a:solidFill>
                  </a:tcPr>
                </a:tc>
                <a:tc>
                  <a:txBody>
                    <a:bodyPr wrap="square"/>
                    <a:lstStyle/>
                    <a:p>
                      <a:pPr algn="l"/>
                      <a:r>
                        <a:rPr sz="1200">
                          <a:solidFill>
                            <a:srgbClr val="1C1517"/>
                          </a:solidFill>
                          <a:latin typeface="Calibri"/>
                        </a:rPr>
                        <a:t>0.9 s</a:t>
                      </a:r>
                    </a:p>
                  </a:txBody>
                  <a:tcPr marL="82296" marR="54864" marT="27432" marB="27432" anchor="ctr">
                    <a:solidFill>
                      <a:srgbClr val="FFFFFF"/>
                    </a:solidFill>
                  </a:tcPr>
                </a:tc>
                <a:tc>
                  <a:txBody>
                    <a:bodyPr wrap="square"/>
                    <a:lstStyle/>
                    <a:p>
                      <a:pPr algn="l"/>
                      <a:r>
                        <a:rPr sz="1200">
                          <a:solidFill>
                            <a:srgbClr val="1C1517"/>
                          </a:solidFill>
                          <a:latin typeface="Calibri"/>
                        </a:rPr>
                        <a:t>Good</a:t>
                      </a:r>
                    </a:p>
                  </a:txBody>
                  <a:tcPr marL="82296" marR="54864" marT="27432" marB="27432" anchor="ctr">
                    <a:solidFill>
                      <a:srgbClr val="FFFFFF"/>
                    </a:solidFill>
                  </a:tcPr>
                </a:tc>
              </a:tr>
              <a:tr h="384048">
                <a:tc>
                  <a:txBody>
                    <a:bodyPr wrap="square"/>
                    <a:lstStyle/>
                    <a:p>
                      <a:pPr algn="l"/>
                      <a:r>
                        <a:rPr sz="1200">
                          <a:solidFill>
                            <a:srgbClr val="1C1517"/>
                          </a:solidFill>
                          <a:latin typeface="Calibri"/>
                        </a:rPr>
                        <a:t>Largest Contentful Paint</a:t>
                      </a:r>
                    </a:p>
                  </a:txBody>
                  <a:tcPr marL="82296" marR="54864" marT="27432" marB="27432" anchor="ctr">
                    <a:solidFill>
                      <a:srgbClr val="F7F1F3"/>
                    </a:solidFill>
                  </a:tcPr>
                </a:tc>
                <a:tc>
                  <a:txBody>
                    <a:bodyPr wrap="square"/>
                    <a:lstStyle/>
                    <a:p>
                      <a:pPr algn="l"/>
                      <a:r>
                        <a:rPr sz="1200">
                          <a:solidFill>
                            <a:srgbClr val="1C1517"/>
                          </a:solidFill>
                          <a:latin typeface="Calibri"/>
                        </a:rPr>
                        <a:t>1.1 s  (was 15.9 s)</a:t>
                      </a:r>
                    </a:p>
                  </a:txBody>
                  <a:tcPr marL="82296" marR="54864" marT="27432" marB="27432" anchor="ctr">
                    <a:solidFill>
                      <a:srgbClr val="F7F1F3"/>
                    </a:solidFill>
                  </a:tcPr>
                </a:tc>
                <a:tc>
                  <a:txBody>
                    <a:bodyPr wrap="square"/>
                    <a:lstStyle/>
                    <a:p>
                      <a:pPr algn="l"/>
                      <a:r>
                        <a:rPr sz="1200">
                          <a:solidFill>
                            <a:srgbClr val="1C1517"/>
                          </a:solidFill>
                          <a:latin typeface="Calibri"/>
                        </a:rPr>
                        <a:t>Good</a:t>
                      </a:r>
                    </a:p>
                  </a:txBody>
                  <a:tcPr marL="82296" marR="54864" marT="27432" marB="27432" anchor="ctr">
                    <a:solidFill>
                      <a:srgbClr val="F7F1F3"/>
                    </a:solidFill>
                  </a:tcPr>
                </a:tc>
              </a:tr>
              <a:tr h="384048">
                <a:tc>
                  <a:txBody>
                    <a:bodyPr wrap="square"/>
                    <a:lstStyle/>
                    <a:p>
                      <a:pPr algn="l"/>
                      <a:r>
                        <a:rPr sz="1200">
                          <a:solidFill>
                            <a:srgbClr val="1C1517"/>
                          </a:solidFill>
                          <a:latin typeface="Calibri"/>
                        </a:rPr>
                        <a:t>Cumulative Layout Shift</a:t>
                      </a:r>
                    </a:p>
                  </a:txBody>
                  <a:tcPr marL="82296" marR="54864" marT="27432" marB="27432" anchor="ctr">
                    <a:solidFill>
                      <a:srgbClr val="FFFFFF"/>
                    </a:solidFill>
                  </a:tcPr>
                </a:tc>
                <a:tc>
                  <a:txBody>
                    <a:bodyPr wrap="square"/>
                    <a:lstStyle/>
                    <a:p>
                      <a:pPr algn="l"/>
                      <a:r>
                        <a:rPr sz="1200">
                          <a:solidFill>
                            <a:srgbClr val="1C1517"/>
                          </a:solidFill>
                          <a:latin typeface="Calibri"/>
                        </a:rPr>
                        <a:t>0</a:t>
                      </a:r>
                    </a:p>
                  </a:txBody>
                  <a:tcPr marL="82296" marR="54864" marT="27432" marB="27432" anchor="ctr">
                    <a:solidFill>
                      <a:srgbClr val="FFFFFF"/>
                    </a:solidFill>
                  </a:tcPr>
                </a:tc>
                <a:tc>
                  <a:txBody>
                    <a:bodyPr wrap="square"/>
                    <a:lstStyle/>
                    <a:p>
                      <a:pPr algn="l"/>
                      <a:r>
                        <a:rPr sz="1200">
                          <a:solidFill>
                            <a:srgbClr val="1C1517"/>
                          </a:solidFill>
                          <a:latin typeface="Calibri"/>
                        </a:rPr>
                        <a:t>Good</a:t>
                      </a:r>
                    </a:p>
                  </a:txBody>
                  <a:tcPr marL="82296" marR="54864" marT="27432" marB="27432" anchor="ctr">
                    <a:solidFill>
                      <a:srgbClr val="FFFFFF"/>
                    </a:solidFill>
                  </a:tcPr>
                </a:tc>
              </a:tr>
              <a:tr h="384048">
                <a:tc>
                  <a:txBody>
                    <a:bodyPr wrap="square"/>
                    <a:lstStyle/>
                    <a:p>
                      <a:pPr algn="l"/>
                      <a:r>
                        <a:rPr sz="1200">
                          <a:solidFill>
                            <a:srgbClr val="1C1517"/>
                          </a:solidFill>
                          <a:latin typeface="Calibri"/>
                        </a:rPr>
                        <a:t>Total Blocking Time</a:t>
                      </a:r>
                    </a:p>
                  </a:txBody>
                  <a:tcPr marL="82296" marR="54864" marT="27432" marB="27432" anchor="ctr">
                    <a:solidFill>
                      <a:srgbClr val="F7F1F3"/>
                    </a:solidFill>
                  </a:tcPr>
                </a:tc>
                <a:tc>
                  <a:txBody>
                    <a:bodyPr wrap="square"/>
                    <a:lstStyle/>
                    <a:p>
                      <a:pPr algn="l"/>
                      <a:r>
                        <a:rPr sz="1200">
                          <a:solidFill>
                            <a:srgbClr val="1C1517"/>
                          </a:solidFill>
                          <a:latin typeface="Calibri"/>
                        </a:rPr>
                        <a:t>190 ms</a:t>
                      </a:r>
                    </a:p>
                  </a:txBody>
                  <a:tcPr marL="82296" marR="54864" marT="27432" marB="27432" anchor="ctr">
                    <a:solidFill>
                      <a:srgbClr val="F7F1F3"/>
                    </a:solidFill>
                  </a:tcPr>
                </a:tc>
                <a:tc>
                  <a:txBody>
                    <a:bodyPr wrap="square"/>
                    <a:lstStyle/>
                    <a:p>
                      <a:pPr algn="l"/>
                      <a:r>
                        <a:rPr sz="1200">
                          <a:solidFill>
                            <a:srgbClr val="1C1517"/>
                          </a:solidFill>
                          <a:latin typeface="Calibri"/>
                        </a:rPr>
                        <a:t>Improving</a:t>
                      </a:r>
                    </a:p>
                  </a:txBody>
                  <a:tcPr marL="82296" marR="54864" marT="27432" marB="27432" anchor="ctr">
                    <a:solidFill>
                      <a:srgbClr val="F7F1F3"/>
                    </a:solidFill>
                  </a:tcPr>
                </a:tc>
              </a:tr>
            </a:tbl>
          </a:graphicData>
        </a:graphic>
      </p:graphicFrame>
      <p:sp>
        <p:nvSpPr>
          <p:cNvPr id="22" name="TextBox 21"/>
          <p:cNvSpPr txBox="1"/>
          <p:nvPr/>
        </p:nvSpPr>
        <p:spPr>
          <a:xfrm>
            <a:off x="7635240" y="3794760"/>
            <a:ext cx="3931920" cy="320040"/>
          </a:xfrm>
          <a:prstGeom prst="rect">
            <a:avLst/>
          </a:prstGeom>
          <a:noFill/>
        </p:spPr>
        <p:txBody>
          <a:bodyPr wrap="square">
            <a:spAutoFit/>
          </a:bodyPr>
          <a:lstStyle/>
          <a:p>
            <a:pPr algn="l">
              <a:lnSpc>
                <a:spcPct val="100000"/>
              </a:lnSpc>
              <a:spcAft>
                <a:spcPts val="400"/>
              </a:spcAft>
            </a:pPr>
            <a:r>
              <a:rPr sz="1100" b="1">
                <a:solidFill>
                  <a:srgbClr val="ED1164"/>
                </a:solidFill>
                <a:latin typeface="Calibri"/>
              </a:rPr>
              <a:t>HOW WE DID IT</a:t>
            </a:r>
          </a:p>
        </p:txBody>
      </p:sp>
      <p:sp>
        <p:nvSpPr>
          <p:cNvPr id="23" name="TextBox 22"/>
          <p:cNvSpPr txBox="1"/>
          <p:nvPr/>
        </p:nvSpPr>
        <p:spPr>
          <a:xfrm>
            <a:off x="7635240" y="4114800"/>
            <a:ext cx="3931920" cy="2651760"/>
          </a:xfrm>
          <a:prstGeom prst="rect">
            <a:avLst/>
          </a:prstGeom>
          <a:noFill/>
        </p:spPr>
        <p:txBody>
          <a:bodyPr wrap="square">
            <a:spAutoFit/>
          </a:bodyPr>
          <a:lstStyle/>
          <a:p>
            <a:pPr>
              <a:lnSpc>
                <a:spcPct val="105000"/>
              </a:lnSpc>
              <a:spcAft>
                <a:spcPts val="800"/>
              </a:spcAft>
            </a:pPr>
            <a:r>
              <a:rPr sz="1150" b="1">
                <a:solidFill>
                  <a:srgbClr val="ED1164"/>
                </a:solidFill>
                <a:latin typeface="Calibri"/>
              </a:rPr>
              <a:t>›  </a:t>
            </a:r>
            <a:r>
              <a:rPr sz="1150" b="1">
                <a:solidFill>
                  <a:srgbClr val="1C1517"/>
                </a:solidFill>
                <a:latin typeface="Calibri"/>
              </a:rPr>
              <a:t>Poster image as LCP </a:t>
            </a:r>
            <a:r>
              <a:rPr sz="1150">
                <a:solidFill>
                  <a:srgbClr val="6F6265"/>
                </a:solidFill>
                <a:latin typeface="Calibri"/>
              </a:rPr>
              <a:t>— paints instantly, no video wait</a:t>
            </a:r>
          </a:p>
          <a:p>
            <a:pPr>
              <a:lnSpc>
                <a:spcPct val="105000"/>
              </a:lnSpc>
              <a:spcAft>
                <a:spcPts val="800"/>
              </a:spcAft>
            </a:pPr>
            <a:r>
              <a:rPr sz="1150" b="1">
                <a:solidFill>
                  <a:srgbClr val="ED1164"/>
                </a:solidFill>
                <a:latin typeface="Calibri"/>
              </a:rPr>
              <a:t>›  </a:t>
            </a:r>
            <a:r>
              <a:rPr sz="1150" b="1">
                <a:solidFill>
                  <a:srgbClr val="1C1517"/>
                </a:solidFill>
                <a:latin typeface="Calibri"/>
              </a:rPr>
              <a:t>Hero video skipped on mobile </a:t>
            </a:r>
            <a:r>
              <a:rPr sz="1150">
                <a:solidFill>
                  <a:srgbClr val="6F6265"/>
                </a:solidFill>
                <a:latin typeface="Calibri"/>
              </a:rPr>
              <a:t>(−8.5 MB); desktop loads after idle</a:t>
            </a:r>
          </a:p>
          <a:p>
            <a:pPr>
              <a:lnSpc>
                <a:spcPct val="105000"/>
              </a:lnSpc>
              <a:spcAft>
                <a:spcPts val="800"/>
              </a:spcAft>
            </a:pPr>
            <a:r>
              <a:rPr sz="1150" b="1">
                <a:solidFill>
                  <a:srgbClr val="ED1164"/>
                </a:solidFill>
                <a:latin typeface="Calibri"/>
              </a:rPr>
              <a:t>›  </a:t>
            </a:r>
            <a:r>
              <a:rPr sz="1150" b="1">
                <a:solidFill>
                  <a:srgbClr val="1C1517"/>
                </a:solidFill>
                <a:latin typeface="Calibri"/>
              </a:rPr>
              <a:t>Logos → WebP </a:t>
            </a:r>
            <a:r>
              <a:rPr sz="1150">
                <a:solidFill>
                  <a:srgbClr val="6F6265"/>
                </a:solidFill>
                <a:latin typeface="Calibri"/>
              </a:rPr>
              <a:t>(1.3 MB → 196 KB) + lazy-loaded</a:t>
            </a:r>
          </a:p>
          <a:p>
            <a:pPr>
              <a:lnSpc>
                <a:spcPct val="105000"/>
              </a:lnSpc>
              <a:spcAft>
                <a:spcPts val="800"/>
              </a:spcAft>
            </a:pPr>
            <a:r>
              <a:rPr sz="1150" b="1">
                <a:solidFill>
                  <a:srgbClr val="ED1164"/>
                </a:solidFill>
                <a:latin typeface="Calibri"/>
              </a:rPr>
              <a:t>›  </a:t>
            </a:r>
            <a:r>
              <a:rPr sz="1150" b="1">
                <a:solidFill>
                  <a:srgbClr val="1C1517"/>
                </a:solidFill>
                <a:latin typeface="Calibri"/>
              </a:rPr>
              <a:t>Hero text from HTML, not JS </a:t>
            </a:r>
            <a:r>
              <a:rPr sz="1150">
                <a:solidFill>
                  <a:srgbClr val="6F6265"/>
                </a:solidFill>
                <a:latin typeface="Calibri"/>
              </a:rPr>
              <a:t>+ analytics deferred</a:t>
            </a:r>
          </a:p>
          <a:p>
            <a:pPr>
              <a:lnSpc>
                <a:spcPct val="105000"/>
              </a:lnSpc>
              <a:spcAft>
                <a:spcPts val="800"/>
              </a:spcAft>
            </a:pPr>
            <a:r>
              <a:rPr sz="1150" b="1">
                <a:solidFill>
                  <a:srgbClr val="ED1164"/>
                </a:solidFill>
                <a:latin typeface="Calibri"/>
              </a:rPr>
              <a:t>›  </a:t>
            </a:r>
            <a:r>
              <a:rPr sz="1150" b="1">
                <a:solidFill>
                  <a:srgbClr val="1C1517"/>
                </a:solidFill>
                <a:latin typeface="Calibri"/>
              </a:rPr>
              <a:t>58 MB of dead files removed</a:t>
            </a:r>
            <a:r>
              <a:rPr sz="1150">
                <a:solidFill>
                  <a:srgbClr val="6F6265"/>
                </a:solidFill>
                <a:latin typeface="Calibri"/>
              </a:rPr>
              <a:t/>
            </a:r>
          </a:p>
        </p:txBody>
      </p:sp>
      <p:sp>
        <p:nvSpPr>
          <p:cNvPr id="24" name="TextBox 23"/>
          <p:cNvSpPr txBox="1"/>
          <p:nvPr/>
        </p:nvSpPr>
        <p:spPr>
          <a:xfrm>
            <a:off x="658368" y="6446520"/>
            <a:ext cx="10881360" cy="320040"/>
          </a:xfrm>
          <a:prstGeom prst="rect">
            <a:avLst/>
          </a:prstGeom>
          <a:noFill/>
        </p:spPr>
        <p:txBody>
          <a:bodyPr wrap="square">
            <a:spAutoFit/>
          </a:bodyPr>
          <a:lstStyle/>
          <a:p>
            <a:pPr algn="l">
              <a:lnSpc>
                <a:spcPct val="100000"/>
              </a:lnSpc>
              <a:spcAft>
                <a:spcPts val="400"/>
              </a:spcAft>
            </a:pPr>
            <a:r>
              <a:rPr sz="1050" b="0">
                <a:solidFill>
                  <a:srgbClr val="6F6265"/>
                </a:solidFill>
                <a:latin typeface="Calibri"/>
              </a:rPr>
              <a:t>Mobile is on the same trajectory (payload −90%); the last lever for a 90+ mobile score is code-splitting the homepage JS.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7F8"/>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ED11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881360" cy="1051560"/>
          </a:xfrm>
          <a:prstGeom prst="rect">
            <a:avLst/>
          </a:prstGeom>
          <a:noFill/>
        </p:spPr>
        <p:txBody>
          <a:bodyPr wrap="square">
            <a:spAutoFit/>
          </a:bodyPr>
          <a:lstStyle/>
          <a:p>
            <a:pPr algn="l">
              <a:lnSpc>
                <a:spcPct val="100000"/>
              </a:lnSpc>
              <a:spcAft>
                <a:spcPts val="300"/>
              </a:spcAft>
            </a:pPr>
            <a:r>
              <a:rPr sz="1200" b="1">
                <a:solidFill>
                  <a:srgbClr val="ED1164"/>
                </a:solidFill>
                <a:latin typeface="Calibri"/>
              </a:rPr>
              <a:t>GOOGLE SEARCH CONSOLE</a:t>
            </a:r>
          </a:p>
          <a:p>
            <a:pPr algn="l">
              <a:lnSpc>
                <a:spcPct val="100000"/>
              </a:lnSpc>
              <a:spcAft>
                <a:spcPts val="400"/>
              </a:spcAft>
            </a:pPr>
            <a:r>
              <a:rPr sz="3000" b="1">
                <a:solidFill>
                  <a:srgbClr val="1C1517"/>
                </a:solidFill>
                <a:latin typeface="Calibri"/>
              </a:rPr>
              <a:t>Live search performance (15–25 Jul 2026)</a:t>
            </a:r>
          </a:p>
        </p:txBody>
      </p:sp>
      <p:sp>
        <p:nvSpPr>
          <p:cNvPr id="4" name="TextBox 3"/>
          <p:cNvSpPr txBox="1"/>
          <p:nvPr/>
        </p:nvSpPr>
        <p:spPr>
          <a:xfrm>
            <a:off x="11064240" y="384048"/>
            <a:ext cx="914400" cy="548640"/>
          </a:xfrm>
          <a:prstGeom prst="rect">
            <a:avLst/>
          </a:prstGeom>
          <a:noFill/>
        </p:spPr>
        <p:txBody>
          <a:bodyPr wrap="square">
            <a:spAutoFit/>
          </a:bodyPr>
          <a:lstStyle/>
          <a:p>
            <a:pPr algn="r">
              <a:lnSpc>
                <a:spcPct val="100000"/>
              </a:lnSpc>
              <a:spcAft>
                <a:spcPts val="400"/>
              </a:spcAft>
            </a:pPr>
            <a:r>
              <a:rPr sz="1200" b="0">
                <a:solidFill>
                  <a:srgbClr val="6F6265"/>
                </a:solidFill>
                <a:latin typeface="Calibri"/>
              </a:rPr>
              <a:t>09</a:t>
            </a:r>
          </a:p>
        </p:txBody>
      </p:sp>
      <p:sp>
        <p:nvSpPr>
          <p:cNvPr id="5" name="Rectangle 4"/>
          <p:cNvSpPr/>
          <p:nvPr/>
        </p:nvSpPr>
        <p:spPr>
          <a:xfrm>
            <a:off x="658368" y="1481328"/>
            <a:ext cx="10881360" cy="27432"/>
          </a:xfrm>
          <a:prstGeom prst="rect">
            <a:avLst/>
          </a:prstGeom>
          <a:solidFill>
            <a:srgbClr val="E8DF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783080"/>
            <a:ext cx="2615184" cy="1234440"/>
          </a:xfrm>
          <a:prstGeom prst="roundRect">
            <a:avLst>
              <a:gd name="adj" fmla="val 8000"/>
            </a:avLst>
          </a:prstGeom>
          <a:solidFill>
            <a:srgbClr val="FFFFFF"/>
          </a:solidFill>
          <a:ln w="12700">
            <a:solidFill>
              <a:srgbClr val="E8DF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83080"/>
            <a:ext cx="2615184" cy="64008"/>
          </a:xfrm>
          <a:prstGeom prst="rect">
            <a:avLst/>
          </a:prstGeom>
          <a:solidFill>
            <a:srgbClr val="ED11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1929384"/>
            <a:ext cx="2340864" cy="960120"/>
          </a:xfrm>
          <a:prstGeom prst="rect">
            <a:avLst/>
          </a:prstGeom>
          <a:noFill/>
        </p:spPr>
        <p:txBody>
          <a:bodyPr wrap="square">
            <a:spAutoFit/>
          </a:bodyPr>
          <a:lstStyle/>
          <a:p>
            <a:pPr algn="l">
              <a:lnSpc>
                <a:spcPct val="100000"/>
              </a:lnSpc>
              <a:spcAft>
                <a:spcPts val="200"/>
              </a:spcAft>
            </a:pPr>
            <a:r>
              <a:rPr sz="3000" b="1">
                <a:solidFill>
                  <a:srgbClr val="ED1164"/>
                </a:solidFill>
                <a:latin typeface="Calibri"/>
              </a:rPr>
              <a:t>38</a:t>
            </a:r>
          </a:p>
          <a:p>
            <a:pPr algn="l">
              <a:lnSpc>
                <a:spcPct val="95000"/>
              </a:lnSpc>
              <a:spcAft>
                <a:spcPts val="400"/>
              </a:spcAft>
            </a:pPr>
            <a:r>
              <a:rPr sz="1050" b="0">
                <a:solidFill>
                  <a:srgbClr val="6F6265"/>
                </a:solidFill>
                <a:latin typeface="Calibri"/>
              </a:rPr>
              <a:t>Total clicks</a:t>
            </a:r>
          </a:p>
        </p:txBody>
      </p:sp>
      <p:sp>
        <p:nvSpPr>
          <p:cNvPr id="9" name="Rounded Rectangle 8"/>
          <p:cNvSpPr/>
          <p:nvPr/>
        </p:nvSpPr>
        <p:spPr>
          <a:xfrm>
            <a:off x="3419856" y="1783080"/>
            <a:ext cx="2615184" cy="1234440"/>
          </a:xfrm>
          <a:prstGeom prst="roundRect">
            <a:avLst>
              <a:gd name="adj" fmla="val 8000"/>
            </a:avLst>
          </a:prstGeom>
          <a:solidFill>
            <a:srgbClr val="FFFFFF"/>
          </a:solidFill>
          <a:ln w="12700">
            <a:solidFill>
              <a:srgbClr val="E8DF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419856" y="1783080"/>
            <a:ext cx="2615184" cy="64008"/>
          </a:xfrm>
          <a:prstGeom prst="rect">
            <a:avLst/>
          </a:prstGeom>
          <a:solidFill>
            <a:srgbClr val="ED11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57016" y="1929384"/>
            <a:ext cx="2340864" cy="960120"/>
          </a:xfrm>
          <a:prstGeom prst="rect">
            <a:avLst/>
          </a:prstGeom>
          <a:noFill/>
        </p:spPr>
        <p:txBody>
          <a:bodyPr wrap="square">
            <a:spAutoFit/>
          </a:bodyPr>
          <a:lstStyle/>
          <a:p>
            <a:pPr algn="l">
              <a:lnSpc>
                <a:spcPct val="100000"/>
              </a:lnSpc>
              <a:spcAft>
                <a:spcPts val="200"/>
              </a:spcAft>
            </a:pPr>
            <a:r>
              <a:rPr sz="3000" b="1">
                <a:solidFill>
                  <a:srgbClr val="ED1164"/>
                </a:solidFill>
                <a:latin typeface="Calibri"/>
              </a:rPr>
              <a:t>1.14k</a:t>
            </a:r>
          </a:p>
          <a:p>
            <a:pPr algn="l">
              <a:lnSpc>
                <a:spcPct val="95000"/>
              </a:lnSpc>
              <a:spcAft>
                <a:spcPts val="400"/>
              </a:spcAft>
            </a:pPr>
            <a:r>
              <a:rPr sz="1050" b="0">
                <a:solidFill>
                  <a:srgbClr val="6F6265"/>
                </a:solidFill>
                <a:latin typeface="Calibri"/>
              </a:rPr>
              <a:t>Total impressions</a:t>
            </a:r>
          </a:p>
        </p:txBody>
      </p:sp>
      <p:sp>
        <p:nvSpPr>
          <p:cNvPr id="12" name="Rounded Rectangle 11"/>
          <p:cNvSpPr/>
          <p:nvPr/>
        </p:nvSpPr>
        <p:spPr>
          <a:xfrm>
            <a:off x="6181344" y="1783080"/>
            <a:ext cx="2615184" cy="1234440"/>
          </a:xfrm>
          <a:prstGeom prst="roundRect">
            <a:avLst>
              <a:gd name="adj" fmla="val 8000"/>
            </a:avLst>
          </a:prstGeom>
          <a:solidFill>
            <a:srgbClr val="FFFFFF"/>
          </a:solidFill>
          <a:ln w="12700">
            <a:solidFill>
              <a:srgbClr val="E8DF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81344" y="1783080"/>
            <a:ext cx="2615184" cy="64008"/>
          </a:xfrm>
          <a:prstGeom prst="rect">
            <a:avLst/>
          </a:prstGeom>
          <a:solidFill>
            <a:srgbClr val="167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18504" y="1929384"/>
            <a:ext cx="2340864" cy="960120"/>
          </a:xfrm>
          <a:prstGeom prst="rect">
            <a:avLst/>
          </a:prstGeom>
          <a:noFill/>
        </p:spPr>
        <p:txBody>
          <a:bodyPr wrap="square">
            <a:spAutoFit/>
          </a:bodyPr>
          <a:lstStyle/>
          <a:p>
            <a:pPr algn="l">
              <a:lnSpc>
                <a:spcPct val="100000"/>
              </a:lnSpc>
              <a:spcAft>
                <a:spcPts val="200"/>
              </a:spcAft>
            </a:pPr>
            <a:r>
              <a:rPr sz="3000" b="1">
                <a:solidFill>
                  <a:srgbClr val="16794A"/>
                </a:solidFill>
                <a:latin typeface="Calibri"/>
              </a:rPr>
              <a:t>3.3%</a:t>
            </a:r>
          </a:p>
          <a:p>
            <a:pPr algn="l">
              <a:lnSpc>
                <a:spcPct val="95000"/>
              </a:lnSpc>
              <a:spcAft>
                <a:spcPts val="400"/>
              </a:spcAft>
            </a:pPr>
            <a:r>
              <a:rPr sz="1050" b="0">
                <a:solidFill>
                  <a:srgbClr val="6F6265"/>
                </a:solidFill>
                <a:latin typeface="Calibri"/>
              </a:rPr>
              <a:t>Average CTR</a:t>
            </a:r>
          </a:p>
        </p:txBody>
      </p:sp>
      <p:sp>
        <p:nvSpPr>
          <p:cNvPr id="15" name="Rounded Rectangle 14"/>
          <p:cNvSpPr/>
          <p:nvPr/>
        </p:nvSpPr>
        <p:spPr>
          <a:xfrm>
            <a:off x="8942832" y="1783080"/>
            <a:ext cx="2615184" cy="1234440"/>
          </a:xfrm>
          <a:prstGeom prst="roundRect">
            <a:avLst>
              <a:gd name="adj" fmla="val 8000"/>
            </a:avLst>
          </a:prstGeom>
          <a:solidFill>
            <a:srgbClr val="FFFFFF"/>
          </a:solidFill>
          <a:ln w="12700">
            <a:solidFill>
              <a:srgbClr val="E8DF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942832" y="1783080"/>
            <a:ext cx="2615184" cy="64008"/>
          </a:xfrm>
          <a:prstGeom prst="rect">
            <a:avLst/>
          </a:prstGeom>
          <a:solidFill>
            <a:srgbClr val="B068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79992" y="1929384"/>
            <a:ext cx="2340864" cy="960120"/>
          </a:xfrm>
          <a:prstGeom prst="rect">
            <a:avLst/>
          </a:prstGeom>
          <a:noFill/>
        </p:spPr>
        <p:txBody>
          <a:bodyPr wrap="square">
            <a:spAutoFit/>
          </a:bodyPr>
          <a:lstStyle/>
          <a:p>
            <a:pPr algn="l">
              <a:lnSpc>
                <a:spcPct val="100000"/>
              </a:lnSpc>
              <a:spcAft>
                <a:spcPts val="200"/>
              </a:spcAft>
            </a:pPr>
            <a:r>
              <a:rPr sz="3000" b="1">
                <a:solidFill>
                  <a:srgbClr val="B0680A"/>
                </a:solidFill>
                <a:latin typeface="Calibri"/>
              </a:rPr>
              <a:t>44.3</a:t>
            </a:r>
          </a:p>
          <a:p>
            <a:pPr algn="l">
              <a:lnSpc>
                <a:spcPct val="95000"/>
              </a:lnSpc>
              <a:spcAft>
                <a:spcPts val="400"/>
              </a:spcAft>
            </a:pPr>
            <a:r>
              <a:rPr sz="1050" b="0">
                <a:solidFill>
                  <a:srgbClr val="6F6265"/>
                </a:solidFill>
                <a:latin typeface="Calibri"/>
              </a:rPr>
              <a:t>Average position</a:t>
            </a:r>
          </a:p>
        </p:txBody>
      </p:sp>
      <p:sp>
        <p:nvSpPr>
          <p:cNvPr id="18" name="TextBox 17"/>
          <p:cNvSpPr txBox="1"/>
          <p:nvPr/>
        </p:nvSpPr>
        <p:spPr>
          <a:xfrm>
            <a:off x="658368" y="3291840"/>
            <a:ext cx="5120640" cy="320040"/>
          </a:xfrm>
          <a:prstGeom prst="rect">
            <a:avLst/>
          </a:prstGeom>
          <a:noFill/>
        </p:spPr>
        <p:txBody>
          <a:bodyPr wrap="square">
            <a:spAutoFit/>
          </a:bodyPr>
          <a:lstStyle/>
          <a:p>
            <a:pPr algn="l">
              <a:lnSpc>
                <a:spcPct val="100000"/>
              </a:lnSpc>
              <a:spcAft>
                <a:spcPts val="400"/>
              </a:spcAft>
            </a:pPr>
            <a:r>
              <a:rPr sz="1100" b="1">
                <a:solidFill>
                  <a:srgbClr val="ED1164"/>
                </a:solidFill>
                <a:latin typeface="Calibri"/>
              </a:rPr>
              <a:t>INDEXING &amp; SECURITY</a:t>
            </a:r>
          </a:p>
        </p:txBody>
      </p:sp>
      <p:sp>
        <p:nvSpPr>
          <p:cNvPr id="19" name="TextBox 18"/>
          <p:cNvSpPr txBox="1"/>
          <p:nvPr/>
        </p:nvSpPr>
        <p:spPr>
          <a:xfrm>
            <a:off x="658368" y="3611880"/>
            <a:ext cx="5120640" cy="2011680"/>
          </a:xfrm>
          <a:prstGeom prst="rect">
            <a:avLst/>
          </a:prstGeom>
          <a:noFill/>
        </p:spPr>
        <p:txBody>
          <a:bodyPr wrap="square">
            <a:spAutoFit/>
          </a:bodyPr>
          <a:lstStyle/>
          <a:p>
            <a:pPr>
              <a:lnSpc>
                <a:spcPct val="105000"/>
              </a:lnSpc>
              <a:spcAft>
                <a:spcPts val="900"/>
              </a:spcAft>
            </a:pPr>
            <a:r>
              <a:rPr sz="1200" b="1">
                <a:solidFill>
                  <a:srgbClr val="ED1164"/>
                </a:solidFill>
                <a:latin typeface="Calibri"/>
              </a:rPr>
              <a:t>›  </a:t>
            </a:r>
            <a:r>
              <a:rPr sz="1200" b="1">
                <a:solidFill>
                  <a:srgbClr val="1C1517"/>
                </a:solidFill>
                <a:latin typeface="Calibri"/>
              </a:rPr>
              <a:t>33 pages indexed on HTTPS </a:t>
            </a:r>
            <a:r>
              <a:rPr sz="1200">
                <a:solidFill>
                  <a:srgbClr val="6F6265"/>
                </a:solidFill>
                <a:latin typeface="Calibri"/>
              </a:rPr>
              <a:t>— 0 non-HTTPS, no critical issues</a:t>
            </a:r>
          </a:p>
          <a:p>
            <a:pPr>
              <a:lnSpc>
                <a:spcPct val="105000"/>
              </a:lnSpc>
              <a:spcAft>
                <a:spcPts val="900"/>
              </a:spcAft>
            </a:pPr>
            <a:r>
              <a:rPr sz="1200" b="1">
                <a:solidFill>
                  <a:srgbClr val="ED1164"/>
                </a:solidFill>
                <a:latin typeface="Calibri"/>
              </a:rPr>
              <a:t>›  </a:t>
            </a:r>
            <a:r>
              <a:rPr sz="1200" b="1">
                <a:solidFill>
                  <a:srgbClr val="1C1517"/>
                </a:solidFill>
                <a:latin typeface="Calibri"/>
              </a:rPr>
              <a:t>Indexed pages climbed to ~44 </a:t>
            </a:r>
            <a:r>
              <a:rPr sz="1200">
                <a:solidFill>
                  <a:srgbClr val="6F6265"/>
                </a:solidFill>
                <a:latin typeface="Calibri"/>
              </a:rPr>
              <a:t>in late July (fresh crawl of new pages)</a:t>
            </a:r>
          </a:p>
          <a:p>
            <a:pPr>
              <a:lnSpc>
                <a:spcPct val="105000"/>
              </a:lnSpc>
              <a:spcAft>
                <a:spcPts val="900"/>
              </a:spcAft>
            </a:pPr>
            <a:r>
              <a:rPr sz="1200" b="1">
                <a:solidFill>
                  <a:srgbClr val="ED1164"/>
                </a:solidFill>
                <a:latin typeface="Calibri"/>
              </a:rPr>
              <a:t>›  </a:t>
            </a:r>
            <a:r>
              <a:rPr sz="1200" b="1">
                <a:solidFill>
                  <a:srgbClr val="1C1517"/>
                </a:solidFill>
                <a:latin typeface="Calibri"/>
              </a:rPr>
              <a:t>CTR 3.3% is healthy </a:t>
            </a:r>
            <a:r>
              <a:rPr sz="1200">
                <a:solidFill>
                  <a:srgbClr val="6F6265"/>
                </a:solidFill>
                <a:latin typeface="Calibri"/>
              </a:rPr>
              <a:t>for an average position of ~44 (page 4–5)</a:t>
            </a:r>
          </a:p>
        </p:txBody>
      </p:sp>
      <p:sp>
        <p:nvSpPr>
          <p:cNvPr id="20" name="TextBox 19"/>
          <p:cNvSpPr txBox="1"/>
          <p:nvPr/>
        </p:nvSpPr>
        <p:spPr>
          <a:xfrm>
            <a:off x="5989320" y="3291840"/>
            <a:ext cx="5486400" cy="320040"/>
          </a:xfrm>
          <a:prstGeom prst="rect">
            <a:avLst/>
          </a:prstGeom>
          <a:noFill/>
        </p:spPr>
        <p:txBody>
          <a:bodyPr wrap="square">
            <a:spAutoFit/>
          </a:bodyPr>
          <a:lstStyle/>
          <a:p>
            <a:pPr algn="l">
              <a:lnSpc>
                <a:spcPct val="100000"/>
              </a:lnSpc>
              <a:spcAft>
                <a:spcPts val="400"/>
              </a:spcAft>
            </a:pPr>
            <a:r>
              <a:rPr sz="1100" b="1">
                <a:solidFill>
                  <a:srgbClr val="ED1164"/>
                </a:solidFill>
                <a:latin typeface="Calibri"/>
              </a:rPr>
              <a:t>TOP COUNTRIES BY CLICKS</a:t>
            </a:r>
          </a:p>
        </p:txBody>
      </p:sp>
      <p:sp>
        <p:nvSpPr>
          <p:cNvPr id="21" name="TextBox 20"/>
          <p:cNvSpPr txBox="1"/>
          <p:nvPr/>
        </p:nvSpPr>
        <p:spPr>
          <a:xfrm>
            <a:off x="5989320" y="3639312"/>
            <a:ext cx="2103120" cy="274320"/>
          </a:xfrm>
          <a:prstGeom prst="rect">
            <a:avLst/>
          </a:prstGeom>
          <a:noFill/>
        </p:spPr>
        <p:txBody>
          <a:bodyPr wrap="square">
            <a:spAutoFit/>
          </a:bodyPr>
          <a:lstStyle/>
          <a:p>
            <a:pPr algn="l">
              <a:lnSpc>
                <a:spcPct val="100000"/>
              </a:lnSpc>
              <a:spcAft>
                <a:spcPts val="0"/>
              </a:spcAft>
            </a:pPr>
            <a:r>
              <a:rPr sz="1150" b="1">
                <a:solidFill>
                  <a:srgbClr val="1C1517"/>
                </a:solidFill>
                <a:latin typeface="Calibri"/>
              </a:rPr>
              <a:t>Pakistan</a:t>
            </a:r>
          </a:p>
        </p:txBody>
      </p:sp>
      <p:sp>
        <p:nvSpPr>
          <p:cNvPr id="22" name="Rounded Rectangle 21"/>
          <p:cNvSpPr/>
          <p:nvPr/>
        </p:nvSpPr>
        <p:spPr>
          <a:xfrm>
            <a:off x="8046720" y="3685032"/>
            <a:ext cx="2926080" cy="182880"/>
          </a:xfrm>
          <a:prstGeom prst="roundRect">
            <a:avLst>
              <a:gd name="adj" fmla="val 8000"/>
            </a:avLst>
          </a:prstGeom>
          <a:solidFill>
            <a:srgbClr val="ECE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0" y="3685032"/>
            <a:ext cx="2691993" cy="182880"/>
          </a:xfrm>
          <a:prstGeom prst="roundRect">
            <a:avLst>
              <a:gd name="adj" fmla="val 8000"/>
            </a:avLst>
          </a:prstGeom>
          <a:solidFill>
            <a:srgbClr val="ED11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018520" y="3639312"/>
            <a:ext cx="548640" cy="274320"/>
          </a:xfrm>
          <a:prstGeom prst="rect">
            <a:avLst/>
          </a:prstGeom>
          <a:noFill/>
        </p:spPr>
        <p:txBody>
          <a:bodyPr wrap="square">
            <a:spAutoFit/>
          </a:bodyPr>
          <a:lstStyle/>
          <a:p>
            <a:pPr algn="r">
              <a:lnSpc>
                <a:spcPct val="100000"/>
              </a:lnSpc>
              <a:spcAft>
                <a:spcPts val="0"/>
              </a:spcAft>
            </a:pPr>
            <a:r>
              <a:rPr sz="1100" b="1">
                <a:solidFill>
                  <a:srgbClr val="6F6265"/>
                </a:solidFill>
                <a:latin typeface="Calibri"/>
              </a:rPr>
              <a:t>92%</a:t>
            </a:r>
          </a:p>
        </p:txBody>
      </p:sp>
      <p:sp>
        <p:nvSpPr>
          <p:cNvPr id="25" name="TextBox 24"/>
          <p:cNvSpPr txBox="1"/>
          <p:nvPr/>
        </p:nvSpPr>
        <p:spPr>
          <a:xfrm>
            <a:off x="5989320" y="4023360"/>
            <a:ext cx="2103120" cy="274320"/>
          </a:xfrm>
          <a:prstGeom prst="rect">
            <a:avLst/>
          </a:prstGeom>
          <a:noFill/>
        </p:spPr>
        <p:txBody>
          <a:bodyPr wrap="square">
            <a:spAutoFit/>
          </a:bodyPr>
          <a:lstStyle/>
          <a:p>
            <a:pPr algn="l">
              <a:lnSpc>
                <a:spcPct val="100000"/>
              </a:lnSpc>
              <a:spcAft>
                <a:spcPts val="0"/>
              </a:spcAft>
            </a:pPr>
            <a:r>
              <a:rPr sz="1150" b="1">
                <a:solidFill>
                  <a:srgbClr val="1C1517"/>
                </a:solidFill>
                <a:latin typeface="Calibri"/>
              </a:rPr>
              <a:t>United Kingdom</a:t>
            </a:r>
          </a:p>
        </p:txBody>
      </p:sp>
      <p:sp>
        <p:nvSpPr>
          <p:cNvPr id="26" name="Rounded Rectangle 25"/>
          <p:cNvSpPr/>
          <p:nvPr/>
        </p:nvSpPr>
        <p:spPr>
          <a:xfrm>
            <a:off x="8046720" y="4069080"/>
            <a:ext cx="2926080" cy="182880"/>
          </a:xfrm>
          <a:prstGeom prst="roundRect">
            <a:avLst>
              <a:gd name="adj" fmla="val 8000"/>
            </a:avLst>
          </a:prstGeom>
          <a:solidFill>
            <a:srgbClr val="ECE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046720" y="4069080"/>
            <a:ext cx="146304" cy="182880"/>
          </a:xfrm>
          <a:prstGeom prst="roundRect">
            <a:avLst>
              <a:gd name="adj" fmla="val 8000"/>
            </a:avLst>
          </a:prstGeom>
          <a:solidFill>
            <a:srgbClr val="ED11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018520" y="4023360"/>
            <a:ext cx="548640" cy="274320"/>
          </a:xfrm>
          <a:prstGeom prst="rect">
            <a:avLst/>
          </a:prstGeom>
          <a:noFill/>
        </p:spPr>
        <p:txBody>
          <a:bodyPr wrap="square">
            <a:spAutoFit/>
          </a:bodyPr>
          <a:lstStyle/>
          <a:p>
            <a:pPr algn="r">
              <a:lnSpc>
                <a:spcPct val="100000"/>
              </a:lnSpc>
              <a:spcAft>
                <a:spcPts val="0"/>
              </a:spcAft>
            </a:pPr>
            <a:r>
              <a:rPr sz="1100" b="1">
                <a:solidFill>
                  <a:srgbClr val="6F6265"/>
                </a:solidFill>
                <a:latin typeface="Calibri"/>
              </a:rPr>
              <a:t>5%</a:t>
            </a:r>
          </a:p>
        </p:txBody>
      </p:sp>
      <p:sp>
        <p:nvSpPr>
          <p:cNvPr id="29" name="TextBox 28"/>
          <p:cNvSpPr txBox="1"/>
          <p:nvPr/>
        </p:nvSpPr>
        <p:spPr>
          <a:xfrm>
            <a:off x="5989320" y="4407408"/>
            <a:ext cx="2103120" cy="274320"/>
          </a:xfrm>
          <a:prstGeom prst="rect">
            <a:avLst/>
          </a:prstGeom>
          <a:noFill/>
        </p:spPr>
        <p:txBody>
          <a:bodyPr wrap="square">
            <a:spAutoFit/>
          </a:bodyPr>
          <a:lstStyle/>
          <a:p>
            <a:pPr algn="l">
              <a:lnSpc>
                <a:spcPct val="100000"/>
              </a:lnSpc>
              <a:spcAft>
                <a:spcPts val="0"/>
              </a:spcAft>
            </a:pPr>
            <a:r>
              <a:rPr sz="1150" b="1">
                <a:solidFill>
                  <a:srgbClr val="1C1517"/>
                </a:solidFill>
                <a:latin typeface="Calibri"/>
              </a:rPr>
              <a:t>United States</a:t>
            </a:r>
          </a:p>
        </p:txBody>
      </p:sp>
      <p:sp>
        <p:nvSpPr>
          <p:cNvPr id="30" name="Rounded Rectangle 29"/>
          <p:cNvSpPr/>
          <p:nvPr/>
        </p:nvSpPr>
        <p:spPr>
          <a:xfrm>
            <a:off x="8046720" y="4453128"/>
            <a:ext cx="2926080" cy="182880"/>
          </a:xfrm>
          <a:prstGeom prst="roundRect">
            <a:avLst>
              <a:gd name="adj" fmla="val 8000"/>
            </a:avLst>
          </a:prstGeom>
          <a:solidFill>
            <a:srgbClr val="ECE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046720" y="4453128"/>
            <a:ext cx="109728" cy="182880"/>
          </a:xfrm>
          <a:prstGeom prst="roundRect">
            <a:avLst>
              <a:gd name="adj" fmla="val 8000"/>
            </a:avLst>
          </a:prstGeom>
          <a:solidFill>
            <a:srgbClr val="ED11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1018520" y="4407408"/>
            <a:ext cx="548640" cy="274320"/>
          </a:xfrm>
          <a:prstGeom prst="rect">
            <a:avLst/>
          </a:prstGeom>
          <a:noFill/>
        </p:spPr>
        <p:txBody>
          <a:bodyPr wrap="square">
            <a:spAutoFit/>
          </a:bodyPr>
          <a:lstStyle/>
          <a:p>
            <a:pPr algn="r">
              <a:lnSpc>
                <a:spcPct val="100000"/>
              </a:lnSpc>
              <a:spcAft>
                <a:spcPts val="0"/>
              </a:spcAft>
            </a:pPr>
            <a:r>
              <a:rPr sz="1100" b="1">
                <a:solidFill>
                  <a:srgbClr val="6F6265"/>
                </a:solidFill>
                <a:latin typeface="Calibri"/>
              </a:rPr>
              <a:t>3%</a:t>
            </a:r>
          </a:p>
        </p:txBody>
      </p:sp>
      <p:sp>
        <p:nvSpPr>
          <p:cNvPr id="33" name="TextBox 32"/>
          <p:cNvSpPr txBox="1"/>
          <p:nvPr/>
        </p:nvSpPr>
        <p:spPr>
          <a:xfrm>
            <a:off x="5989320" y="4791456"/>
            <a:ext cx="2103120" cy="274320"/>
          </a:xfrm>
          <a:prstGeom prst="rect">
            <a:avLst/>
          </a:prstGeom>
          <a:noFill/>
        </p:spPr>
        <p:txBody>
          <a:bodyPr wrap="square">
            <a:spAutoFit/>
          </a:bodyPr>
          <a:lstStyle/>
          <a:p>
            <a:pPr algn="l">
              <a:lnSpc>
                <a:spcPct val="100000"/>
              </a:lnSpc>
              <a:spcAft>
                <a:spcPts val="0"/>
              </a:spcAft>
            </a:pPr>
            <a:r>
              <a:rPr sz="1150" b="1">
                <a:solidFill>
                  <a:srgbClr val="1C1517"/>
                </a:solidFill>
                <a:latin typeface="Calibri"/>
              </a:rPr>
              <a:t>UAE</a:t>
            </a:r>
          </a:p>
        </p:txBody>
      </p:sp>
      <p:sp>
        <p:nvSpPr>
          <p:cNvPr id="34" name="Rounded Rectangle 33"/>
          <p:cNvSpPr/>
          <p:nvPr/>
        </p:nvSpPr>
        <p:spPr>
          <a:xfrm>
            <a:off x="8046720" y="4837176"/>
            <a:ext cx="2926080" cy="182880"/>
          </a:xfrm>
          <a:prstGeom prst="roundRect">
            <a:avLst>
              <a:gd name="adj" fmla="val 8000"/>
            </a:avLst>
          </a:prstGeom>
          <a:solidFill>
            <a:srgbClr val="ECE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8046720" y="4837176"/>
            <a:ext cx="109728" cy="182880"/>
          </a:xfrm>
          <a:prstGeom prst="roundRect">
            <a:avLst>
              <a:gd name="adj" fmla="val 8000"/>
            </a:avLst>
          </a:prstGeom>
          <a:solidFill>
            <a:srgbClr val="ED11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1018520" y="4791456"/>
            <a:ext cx="548640" cy="274320"/>
          </a:xfrm>
          <a:prstGeom prst="rect">
            <a:avLst/>
          </a:prstGeom>
          <a:noFill/>
        </p:spPr>
        <p:txBody>
          <a:bodyPr wrap="square">
            <a:spAutoFit/>
          </a:bodyPr>
          <a:lstStyle/>
          <a:p>
            <a:pPr algn="r">
              <a:lnSpc>
                <a:spcPct val="100000"/>
              </a:lnSpc>
              <a:spcAft>
                <a:spcPts val="0"/>
              </a:spcAft>
            </a:pPr>
            <a:r>
              <a:rPr sz="1100" b="1">
                <a:solidFill>
                  <a:srgbClr val="6F6265"/>
                </a:solidFill>
                <a:latin typeface="Calibri"/>
              </a:rPr>
              <a:t>&lt;1%</a:t>
            </a:r>
          </a:p>
        </p:txBody>
      </p:sp>
      <p:sp>
        <p:nvSpPr>
          <p:cNvPr id="37" name="TextBox 36"/>
          <p:cNvSpPr txBox="1"/>
          <p:nvPr/>
        </p:nvSpPr>
        <p:spPr>
          <a:xfrm>
            <a:off x="5989320" y="5175504"/>
            <a:ext cx="2103120" cy="274320"/>
          </a:xfrm>
          <a:prstGeom prst="rect">
            <a:avLst/>
          </a:prstGeom>
          <a:noFill/>
        </p:spPr>
        <p:txBody>
          <a:bodyPr wrap="square">
            <a:spAutoFit/>
          </a:bodyPr>
          <a:lstStyle/>
          <a:p>
            <a:pPr algn="l">
              <a:lnSpc>
                <a:spcPct val="100000"/>
              </a:lnSpc>
              <a:spcAft>
                <a:spcPts val="0"/>
              </a:spcAft>
            </a:pPr>
            <a:r>
              <a:rPr sz="1150" b="1">
                <a:solidFill>
                  <a:srgbClr val="1C1517"/>
                </a:solidFill>
                <a:latin typeface="Calibri"/>
              </a:rPr>
              <a:t>Australia</a:t>
            </a:r>
          </a:p>
        </p:txBody>
      </p:sp>
      <p:sp>
        <p:nvSpPr>
          <p:cNvPr id="38" name="Rounded Rectangle 37"/>
          <p:cNvSpPr/>
          <p:nvPr/>
        </p:nvSpPr>
        <p:spPr>
          <a:xfrm>
            <a:off x="8046720" y="5221224"/>
            <a:ext cx="2926080" cy="182880"/>
          </a:xfrm>
          <a:prstGeom prst="roundRect">
            <a:avLst>
              <a:gd name="adj" fmla="val 8000"/>
            </a:avLst>
          </a:prstGeom>
          <a:solidFill>
            <a:srgbClr val="ECE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8046720" y="5221224"/>
            <a:ext cx="109728" cy="182880"/>
          </a:xfrm>
          <a:prstGeom prst="roundRect">
            <a:avLst>
              <a:gd name="adj" fmla="val 8000"/>
            </a:avLst>
          </a:prstGeom>
          <a:solidFill>
            <a:srgbClr val="ED11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1018520" y="5175504"/>
            <a:ext cx="548640" cy="274320"/>
          </a:xfrm>
          <a:prstGeom prst="rect">
            <a:avLst/>
          </a:prstGeom>
          <a:noFill/>
        </p:spPr>
        <p:txBody>
          <a:bodyPr wrap="square">
            <a:spAutoFit/>
          </a:bodyPr>
          <a:lstStyle/>
          <a:p>
            <a:pPr algn="r">
              <a:lnSpc>
                <a:spcPct val="100000"/>
              </a:lnSpc>
              <a:spcAft>
                <a:spcPts val="0"/>
              </a:spcAft>
            </a:pPr>
            <a:r>
              <a:rPr sz="1100" b="1">
                <a:solidFill>
                  <a:srgbClr val="6F6265"/>
                </a:solidFill>
                <a:latin typeface="Calibri"/>
              </a:rPr>
              <a:t>&lt;1%</a:t>
            </a:r>
          </a:p>
        </p:txBody>
      </p:sp>
      <p:sp>
        <p:nvSpPr>
          <p:cNvPr id="41" name="Rounded Rectangle 40"/>
          <p:cNvSpPr/>
          <p:nvPr/>
        </p:nvSpPr>
        <p:spPr>
          <a:xfrm>
            <a:off x="658368" y="5806440"/>
            <a:ext cx="10881360" cy="868680"/>
          </a:xfrm>
          <a:prstGeom prst="roundRect">
            <a:avLst>
              <a:gd name="adj" fmla="val 8000"/>
            </a:avLst>
          </a:prstGeom>
          <a:solidFill>
            <a:srgbClr val="FDEAF2"/>
          </a:solidFill>
          <a:ln w="12700">
            <a:solidFill>
              <a:srgbClr val="E8DF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8680" y="5925312"/>
            <a:ext cx="10515600" cy="685800"/>
          </a:xfrm>
          <a:prstGeom prst="rect">
            <a:avLst/>
          </a:prstGeom>
          <a:noFill/>
        </p:spPr>
        <p:txBody>
          <a:bodyPr wrap="square">
            <a:spAutoFit/>
          </a:bodyPr>
          <a:lstStyle/>
          <a:p>
            <a:pPr algn="l">
              <a:lnSpc>
                <a:spcPct val="100000"/>
              </a:lnSpc>
              <a:spcAft>
                <a:spcPts val="300"/>
              </a:spcAft>
            </a:pPr>
            <a:r>
              <a:rPr sz="1200" b="1">
                <a:solidFill>
                  <a:srgbClr val="ED1164"/>
                </a:solidFill>
                <a:latin typeface="Calibri"/>
              </a:rPr>
              <a:t>Key insight</a:t>
            </a:r>
          </a:p>
          <a:p>
            <a:pPr algn="l">
              <a:lnSpc>
                <a:spcPct val="106000"/>
              </a:lnSpc>
              <a:spcAft>
                <a:spcPts val="400"/>
              </a:spcAft>
            </a:pPr>
            <a:r>
              <a:rPr sz="1150" b="0">
                <a:solidFill>
                  <a:srgbClr val="1C1517"/>
                </a:solidFill>
                <a:latin typeface="Calibri"/>
              </a:rPr>
              <a:t>Today 92% of clicks are from Pakistan (brand + local). The US/UK commercial demand we're targeting is only just appearing (position ~44) — exactly the gap the new keyword + AEO work is built to close. Expect US/UK impressions to rise as the pages get crawled and ranked.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7F8"/>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ED11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881360" cy="1051560"/>
          </a:xfrm>
          <a:prstGeom prst="rect">
            <a:avLst/>
          </a:prstGeom>
          <a:noFill/>
        </p:spPr>
        <p:txBody>
          <a:bodyPr wrap="square">
            <a:spAutoFit/>
          </a:bodyPr>
          <a:lstStyle/>
          <a:p>
            <a:pPr algn="l">
              <a:lnSpc>
                <a:spcPct val="100000"/>
              </a:lnSpc>
              <a:spcAft>
                <a:spcPts val="300"/>
              </a:spcAft>
            </a:pPr>
            <a:r>
              <a:rPr sz="1200" b="1">
                <a:solidFill>
                  <a:srgbClr val="ED1164"/>
                </a:solidFill>
                <a:latin typeface="Calibri"/>
              </a:rPr>
              <a:t>THIRD-PARTY AUDIT — REALITY CHECK</a:t>
            </a:r>
          </a:p>
          <a:p>
            <a:pPr algn="l">
              <a:lnSpc>
                <a:spcPct val="100000"/>
              </a:lnSpc>
              <a:spcAft>
                <a:spcPts val="400"/>
              </a:spcAft>
            </a:pPr>
            <a:r>
              <a:rPr sz="3000" b="1">
                <a:solidFill>
                  <a:srgbClr val="1C1517"/>
                </a:solidFill>
                <a:latin typeface="Calibri"/>
              </a:rPr>
              <a:t>We verified every claim against the live site</a:t>
            </a:r>
          </a:p>
        </p:txBody>
      </p:sp>
      <p:sp>
        <p:nvSpPr>
          <p:cNvPr id="4" name="TextBox 3"/>
          <p:cNvSpPr txBox="1"/>
          <p:nvPr/>
        </p:nvSpPr>
        <p:spPr>
          <a:xfrm>
            <a:off x="11064240" y="384048"/>
            <a:ext cx="914400" cy="548640"/>
          </a:xfrm>
          <a:prstGeom prst="rect">
            <a:avLst/>
          </a:prstGeom>
          <a:noFill/>
        </p:spPr>
        <p:txBody>
          <a:bodyPr wrap="square">
            <a:spAutoFit/>
          </a:bodyPr>
          <a:lstStyle/>
          <a:p>
            <a:pPr algn="r">
              <a:lnSpc>
                <a:spcPct val="100000"/>
              </a:lnSpc>
              <a:spcAft>
                <a:spcPts val="400"/>
              </a:spcAft>
            </a:pPr>
            <a:r>
              <a:rPr sz="1200" b="0">
                <a:solidFill>
                  <a:srgbClr val="6F6265"/>
                </a:solidFill>
                <a:latin typeface="Calibri"/>
              </a:rPr>
              <a:t>10</a:t>
            </a:r>
          </a:p>
        </p:txBody>
      </p:sp>
      <p:sp>
        <p:nvSpPr>
          <p:cNvPr id="5" name="Rectangle 4"/>
          <p:cNvSpPr/>
          <p:nvPr/>
        </p:nvSpPr>
        <p:spPr>
          <a:xfrm>
            <a:off x="658368" y="1481328"/>
            <a:ext cx="10881360" cy="27432"/>
          </a:xfrm>
          <a:prstGeom prst="rect">
            <a:avLst/>
          </a:prstGeom>
          <a:solidFill>
            <a:srgbClr val="E8DF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658368" y="1783080"/>
          <a:ext cx="10881360" cy="3968496"/>
        </p:xfrm>
        <a:graphic>
          <a:graphicData uri="http://schemas.openxmlformats.org/drawingml/2006/table">
            <a:tbl>
              <a:tblPr>
                <a:tableStyleId>{5C22544A-7EE6-4342-B048-85BDC9FD1C3A}</a:tableStyleId>
              </a:tblPr>
              <a:tblGrid>
                <a:gridCol w="4572000"/>
                <a:gridCol w="6309360"/>
              </a:tblGrid>
              <a:tr h="566928">
                <a:tc>
                  <a:txBody>
                    <a:bodyPr wrap="square"/>
                    <a:lstStyle/>
                    <a:p>
                      <a:pPr algn="l"/>
                      <a:r>
                        <a:rPr sz="1150" b="1">
                          <a:solidFill>
                            <a:srgbClr val="FFFFFF"/>
                          </a:solidFill>
                          <a:latin typeface="Calibri"/>
                        </a:rPr>
                        <a:t>External audit claimed…</a:t>
                      </a:r>
                    </a:p>
                  </a:txBody>
                  <a:tcPr marL="82296" marR="54864" marT="27432" marB="27432" anchor="ctr">
                    <a:solidFill>
                      <a:srgbClr val="1C1517"/>
                    </a:solidFill>
                  </a:tcPr>
                </a:tc>
                <a:tc>
                  <a:txBody>
                    <a:bodyPr wrap="square"/>
                    <a:lstStyle/>
                    <a:p>
                      <a:pPr algn="l"/>
                      <a:r>
                        <a:rPr sz="1150" b="1">
                          <a:solidFill>
                            <a:srgbClr val="FFFFFF"/>
                          </a:solidFill>
                          <a:latin typeface="Calibri"/>
                        </a:rPr>
                        <a:t>Verified reality</a:t>
                      </a:r>
                    </a:p>
                  </a:txBody>
                  <a:tcPr marL="82296" marR="54864" marT="27432" marB="27432" anchor="ctr">
                    <a:solidFill>
                      <a:srgbClr val="1C1517"/>
                    </a:solidFill>
                  </a:tcPr>
                </a:tc>
              </a:tr>
              <a:tr h="566928">
                <a:tc>
                  <a:txBody>
                    <a:bodyPr wrap="square"/>
                    <a:lstStyle/>
                    <a:p>
                      <a:pPr algn="l"/>
                      <a:r>
                        <a:rPr sz="1150">
                          <a:solidFill>
                            <a:srgbClr val="1C1517"/>
                          </a:solidFill>
                          <a:latin typeface="Calibri"/>
                        </a:rPr>
                        <a:t>“Two competing live sites (WordPress + Next.js)” — Critical</a:t>
                      </a:r>
                    </a:p>
                  </a:txBody>
                  <a:tcPr marL="82296" marR="54864" marT="27432" marB="27432" anchor="ctr">
                    <a:solidFill>
                      <a:srgbClr val="FFFFFF"/>
                    </a:solidFill>
                  </a:tcPr>
                </a:tc>
                <a:tc>
                  <a:txBody>
                    <a:bodyPr wrap="square"/>
                    <a:lstStyle/>
                    <a:p>
                      <a:pPr algn="l"/>
                      <a:r>
                        <a:rPr sz="1150">
                          <a:solidFill>
                            <a:srgbClr val="1C1517"/>
                          </a:solidFill>
                          <a:latin typeface="Calibri"/>
                        </a:rPr>
                        <a:t>FALSE — apex 308-redirects to www on Vercel; no WordPress site exists</a:t>
                      </a:r>
                    </a:p>
                  </a:txBody>
                  <a:tcPr marL="82296" marR="54864" marT="27432" marB="27432" anchor="ctr">
                    <a:solidFill>
                      <a:srgbClr val="FFFFFF"/>
                    </a:solidFill>
                  </a:tcPr>
                </a:tc>
              </a:tr>
              <a:tr h="566928">
                <a:tc>
                  <a:txBody>
                    <a:bodyPr wrap="square"/>
                    <a:lstStyle/>
                    <a:p>
                      <a:pPr algn="l"/>
                      <a:r>
                        <a:rPr sz="1150">
                          <a:solidFill>
                            <a:srgbClr val="1C1517"/>
                          </a:solidFill>
                          <a:latin typeface="Calibri"/>
                        </a:rPr>
                        <a:t>“No JSON-LD / FAQ content unmarked”</a:t>
                      </a:r>
                    </a:p>
                  </a:txBody>
                  <a:tcPr marL="82296" marR="54864" marT="27432" marB="27432" anchor="ctr">
                    <a:solidFill>
                      <a:srgbClr val="F7F1F3"/>
                    </a:solidFill>
                  </a:tcPr>
                </a:tc>
                <a:tc>
                  <a:txBody>
                    <a:bodyPr wrap="square"/>
                    <a:lstStyle/>
                    <a:p>
                      <a:pPr algn="l"/>
                      <a:r>
                        <a:rPr sz="1150">
                          <a:solidFill>
                            <a:srgbClr val="1C1517"/>
                          </a:solidFill>
                          <a:latin typeface="Calibri"/>
                        </a:rPr>
                        <a:t>FALSE — 5 JSON-LD blocks on homepage incl. FAQPage; schema site-wide</a:t>
                      </a:r>
                    </a:p>
                  </a:txBody>
                  <a:tcPr marL="82296" marR="54864" marT="27432" marB="27432" anchor="ctr">
                    <a:solidFill>
                      <a:srgbClr val="F7F1F3"/>
                    </a:solidFill>
                  </a:tcPr>
                </a:tc>
              </a:tr>
              <a:tr h="566928">
                <a:tc>
                  <a:txBody>
                    <a:bodyPr wrap="square"/>
                    <a:lstStyle/>
                    <a:p>
                      <a:pPr algn="l"/>
                      <a:r>
                        <a:rPr sz="1150">
                          <a:solidFill>
                            <a:srgbClr val="1C1517"/>
                          </a:solidFill>
                          <a:latin typeface="Calibri"/>
                        </a:rPr>
                        <a:t>“NAP Houston inconsistency” — Critical</a:t>
                      </a:r>
                    </a:p>
                  </a:txBody>
                  <a:tcPr marL="82296" marR="54864" marT="27432" marB="27432" anchor="ctr">
                    <a:solidFill>
                      <a:srgbClr val="FFFFFF"/>
                    </a:solidFill>
                  </a:tcPr>
                </a:tc>
                <a:tc>
                  <a:txBody>
                    <a:bodyPr wrap="square"/>
                    <a:lstStyle/>
                    <a:p>
                      <a:pPr algn="l"/>
                      <a:r>
                        <a:rPr sz="1150">
                          <a:solidFill>
                            <a:srgbClr val="1C1517"/>
                          </a:solidFill>
                          <a:latin typeface="Calibri"/>
                        </a:rPr>
                        <a:t>FIXED — schema &amp; llms.txt use Lahore, PK consistently</a:t>
                      </a:r>
                    </a:p>
                  </a:txBody>
                  <a:tcPr marL="82296" marR="54864" marT="27432" marB="27432" anchor="ctr">
                    <a:solidFill>
                      <a:srgbClr val="FFFFFF"/>
                    </a:solidFill>
                  </a:tcPr>
                </a:tc>
              </a:tr>
              <a:tr h="566928">
                <a:tc>
                  <a:txBody>
                    <a:bodyPr wrap="square"/>
                    <a:lstStyle/>
                    <a:p>
                      <a:pPr algn="l"/>
                      <a:r>
                        <a:rPr sz="1150">
                          <a:solidFill>
                            <a:srgbClr val="1C1517"/>
                          </a:solidFill>
                          <a:latin typeface="Calibri"/>
                        </a:rPr>
                        <a:t>“Sitemap / robots not verified”</a:t>
                      </a:r>
                    </a:p>
                  </a:txBody>
                  <a:tcPr marL="82296" marR="54864" marT="27432" marB="27432" anchor="ctr">
                    <a:solidFill>
                      <a:srgbClr val="F7F1F3"/>
                    </a:solidFill>
                  </a:tcPr>
                </a:tc>
                <a:tc>
                  <a:txBody>
                    <a:bodyPr wrap="square"/>
                    <a:lstStyle/>
                    <a:p>
                      <a:pPr algn="l"/>
                      <a:r>
                        <a:rPr sz="1150">
                          <a:solidFill>
                            <a:srgbClr val="1C1517"/>
                          </a:solidFill>
                          <a:latin typeface="Calibri"/>
                        </a:rPr>
                        <a:t>BOTH LIVE — HTTP 200, valid</a:t>
                      </a:r>
                    </a:p>
                  </a:txBody>
                  <a:tcPr marL="82296" marR="54864" marT="27432" marB="27432" anchor="ctr">
                    <a:solidFill>
                      <a:srgbClr val="F7F1F3"/>
                    </a:solidFill>
                  </a:tcPr>
                </a:tc>
              </a:tr>
              <a:tr h="566928">
                <a:tc>
                  <a:txBody>
                    <a:bodyPr wrap="square"/>
                    <a:lstStyle/>
                    <a:p>
                      <a:pPr algn="l"/>
                      <a:r>
                        <a:rPr sz="1150">
                          <a:solidFill>
                            <a:srgbClr val="1C1517"/>
                          </a:solidFill>
                          <a:latin typeface="Calibri"/>
                        </a:rPr>
                        <a:t>“Case studies not standalone pages”</a:t>
                      </a:r>
                    </a:p>
                  </a:txBody>
                  <a:tcPr marL="82296" marR="54864" marT="27432" marB="27432" anchor="ctr">
                    <a:solidFill>
                      <a:srgbClr val="FFFFFF"/>
                    </a:solidFill>
                  </a:tcPr>
                </a:tc>
                <a:tc>
                  <a:txBody>
                    <a:bodyPr wrap="square"/>
                    <a:lstStyle/>
                    <a:p>
                      <a:pPr algn="l"/>
                      <a:r>
                        <a:rPr sz="1150">
                          <a:solidFill>
                            <a:srgbClr val="1C1517"/>
                          </a:solidFill>
                          <a:latin typeface="Calibri"/>
                        </a:rPr>
                        <a:t>FALSE — live at /case-studies/alpha-bravo, /villa-tech, /inovatiqa</a:t>
                      </a:r>
                    </a:p>
                  </a:txBody>
                  <a:tcPr marL="82296" marR="54864" marT="27432" marB="27432" anchor="ctr">
                    <a:solidFill>
                      <a:srgbClr val="FFFFFF"/>
                    </a:solidFill>
                  </a:tcPr>
                </a:tc>
              </a:tr>
              <a:tr h="566928">
                <a:tc>
                  <a:txBody>
                    <a:bodyPr wrap="square"/>
                    <a:lstStyle/>
                    <a:p>
                      <a:pPr algn="l"/>
                      <a:r>
                        <a:rPr sz="1150">
                          <a:solidFill>
                            <a:srgbClr val="1C1517"/>
                          </a:solidFill>
                          <a:latin typeface="Calibri"/>
                        </a:rPr>
                        <a:t>Placeholder testimonials on digital-marketing page</a:t>
                      </a:r>
                    </a:p>
                  </a:txBody>
                  <a:tcPr marL="82296" marR="54864" marT="27432" marB="27432" anchor="ctr">
                    <a:solidFill>
                      <a:srgbClr val="F7F1F3"/>
                    </a:solidFill>
                  </a:tcPr>
                </a:tc>
                <a:tc>
                  <a:txBody>
                    <a:bodyPr wrap="square"/>
                    <a:lstStyle/>
                    <a:p>
                      <a:pPr algn="l"/>
                      <a:r>
                        <a:rPr sz="1150">
                          <a:solidFill>
                            <a:srgbClr val="1C1517"/>
                          </a:solidFill>
                          <a:latin typeface="Calibri"/>
                        </a:rPr>
                        <a:t>TRUE — flagged for removal/replacement with real clients</a:t>
                      </a:r>
                    </a:p>
                  </a:txBody>
                  <a:tcPr marL="82296" marR="54864" marT="27432" marB="27432" anchor="ctr">
                    <a:solidFill>
                      <a:srgbClr val="F7F1F3"/>
                    </a:solidFill>
                  </a:tcPr>
                </a:tc>
              </a:tr>
            </a:tbl>
          </a:graphicData>
        </a:graphic>
      </p:graphicFrame>
      <p:sp>
        <p:nvSpPr>
          <p:cNvPr id="7" name="TextBox 6"/>
          <p:cNvSpPr txBox="1"/>
          <p:nvPr/>
        </p:nvSpPr>
        <p:spPr>
          <a:xfrm>
            <a:off x="658368" y="5989320"/>
            <a:ext cx="10881360" cy="548640"/>
          </a:xfrm>
          <a:prstGeom prst="rect">
            <a:avLst/>
          </a:prstGeom>
          <a:noFill/>
        </p:spPr>
        <p:txBody>
          <a:bodyPr wrap="square">
            <a:spAutoFit/>
          </a:bodyPr>
          <a:lstStyle/>
          <a:p>
            <a:pPr algn="l">
              <a:lnSpc>
                <a:spcPct val="105000"/>
              </a:lnSpc>
              <a:spcAft>
                <a:spcPts val="400"/>
              </a:spcAft>
            </a:pPr>
            <a:r>
              <a:rPr sz="1200" b="1">
                <a:solidFill>
                  <a:srgbClr val="ED1164"/>
                </a:solidFill>
                <a:latin typeface="Calibri"/>
              </a:rPr>
              <a:t>The audit tool couldn't fetch the live site, so most findings were guesses from a pre-migration snapshot. The genuine items are captured in Next Steps.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7F8"/>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ED11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881360" cy="1051560"/>
          </a:xfrm>
          <a:prstGeom prst="rect">
            <a:avLst/>
          </a:prstGeom>
          <a:noFill/>
        </p:spPr>
        <p:txBody>
          <a:bodyPr wrap="square">
            <a:spAutoFit/>
          </a:bodyPr>
          <a:lstStyle/>
          <a:p>
            <a:pPr algn="l">
              <a:lnSpc>
                <a:spcPct val="100000"/>
              </a:lnSpc>
              <a:spcAft>
                <a:spcPts val="300"/>
              </a:spcAft>
            </a:pPr>
            <a:r>
              <a:rPr sz="1200" b="1">
                <a:solidFill>
                  <a:srgbClr val="ED1164"/>
                </a:solidFill>
                <a:latin typeface="Calibri"/>
              </a:rPr>
              <a:t>RECOMMENDED NEXT STEPS</a:t>
            </a:r>
          </a:p>
          <a:p>
            <a:pPr algn="l">
              <a:lnSpc>
                <a:spcPct val="100000"/>
              </a:lnSpc>
              <a:spcAft>
                <a:spcPts val="400"/>
              </a:spcAft>
            </a:pPr>
            <a:r>
              <a:rPr sz="3000" b="1">
                <a:solidFill>
                  <a:srgbClr val="1C1517"/>
                </a:solidFill>
                <a:latin typeface="Calibri"/>
              </a:rPr>
              <a:t>To compound the gains</a:t>
            </a:r>
          </a:p>
        </p:txBody>
      </p:sp>
      <p:sp>
        <p:nvSpPr>
          <p:cNvPr id="4" name="TextBox 3"/>
          <p:cNvSpPr txBox="1"/>
          <p:nvPr/>
        </p:nvSpPr>
        <p:spPr>
          <a:xfrm>
            <a:off x="11064240" y="384048"/>
            <a:ext cx="914400" cy="548640"/>
          </a:xfrm>
          <a:prstGeom prst="rect">
            <a:avLst/>
          </a:prstGeom>
          <a:noFill/>
        </p:spPr>
        <p:txBody>
          <a:bodyPr wrap="square">
            <a:spAutoFit/>
          </a:bodyPr>
          <a:lstStyle/>
          <a:p>
            <a:pPr algn="r">
              <a:lnSpc>
                <a:spcPct val="100000"/>
              </a:lnSpc>
              <a:spcAft>
                <a:spcPts val="400"/>
              </a:spcAft>
            </a:pPr>
            <a:r>
              <a:rPr sz="1200" b="0">
                <a:solidFill>
                  <a:srgbClr val="6F6265"/>
                </a:solidFill>
                <a:latin typeface="Calibri"/>
              </a:rPr>
              <a:t>11</a:t>
            </a:r>
          </a:p>
        </p:txBody>
      </p:sp>
      <p:sp>
        <p:nvSpPr>
          <p:cNvPr id="5" name="Rectangle 4"/>
          <p:cNvSpPr/>
          <p:nvPr/>
        </p:nvSpPr>
        <p:spPr>
          <a:xfrm>
            <a:off x="658368" y="1481328"/>
            <a:ext cx="10881360" cy="27432"/>
          </a:xfrm>
          <a:prstGeom prst="rect">
            <a:avLst/>
          </a:prstGeom>
          <a:solidFill>
            <a:srgbClr val="E8DF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737360"/>
            <a:ext cx="5349240" cy="4754880"/>
          </a:xfrm>
          <a:prstGeom prst="rect">
            <a:avLst/>
          </a:prstGeom>
          <a:noFill/>
        </p:spPr>
        <p:txBody>
          <a:bodyPr wrap="square">
            <a:spAutoFit/>
          </a:bodyPr>
          <a:lstStyle/>
          <a:p>
            <a:pPr algn="l">
              <a:lnSpc>
                <a:spcPct val="105000"/>
              </a:lnSpc>
              <a:spcAft>
                <a:spcPts val="900"/>
              </a:spcAft>
            </a:pPr>
            <a:r>
              <a:rPr sz="1500" b="1">
                <a:solidFill>
                  <a:srgbClr val="ED1164"/>
                </a:solidFill>
                <a:latin typeface="Calibri"/>
              </a:rPr>
              <a:t>Quick wins</a:t>
            </a:r>
            <a:r>
              <a:rPr sz="1250" b="1">
                <a:solidFill>
                  <a:srgbClr val="ED1164"/>
                </a:solidFill>
                <a:latin typeface="Calibri"/>
              </a:rPr>
              <a:t>›  </a:t>
            </a:r>
            <a:r>
              <a:rPr sz="1250" b="1">
                <a:solidFill>
                  <a:srgbClr val="1C1517"/>
                </a:solidFill>
                <a:latin typeface="Calibri"/>
              </a:rPr>
              <a:t>Connect Google Search Console </a:t>
            </a:r>
            <a:r>
              <a:rPr sz="1250">
                <a:solidFill>
                  <a:srgbClr val="6F6265"/>
                </a:solidFill>
                <a:latin typeface="Calibri"/>
              </a:rPr>
              <a:t>data &amp; submit the sitemap</a:t>
            </a:r>
          </a:p>
          <a:p>
            <a:pPr>
              <a:lnSpc>
                <a:spcPct val="105000"/>
              </a:lnSpc>
              <a:spcAft>
                <a:spcPts val="900"/>
              </a:spcAft>
            </a:pPr>
            <a:r>
              <a:rPr sz="1250" b="1">
                <a:solidFill>
                  <a:srgbClr val="ED1164"/>
                </a:solidFill>
                <a:latin typeface="Calibri"/>
              </a:rPr>
              <a:t>›  </a:t>
            </a:r>
            <a:r>
              <a:rPr sz="1250" b="1">
                <a:solidFill>
                  <a:srgbClr val="1C1517"/>
                </a:solidFill>
                <a:latin typeface="Calibri"/>
              </a:rPr>
              <a:t>Replace placeholder testimonials </a:t>
            </a:r>
            <a:r>
              <a:rPr sz="1250">
                <a:solidFill>
                  <a:srgbClr val="6F6265"/>
                </a:solidFill>
                <a:latin typeface="Calibri"/>
              </a:rPr>
              <a:t>with real clients</a:t>
            </a:r>
          </a:p>
          <a:p>
            <a:pPr>
              <a:lnSpc>
                <a:spcPct val="105000"/>
              </a:lnSpc>
              <a:spcAft>
                <a:spcPts val="900"/>
              </a:spcAft>
            </a:pPr>
            <a:r>
              <a:rPr sz="1250" b="1">
                <a:solidFill>
                  <a:srgbClr val="ED1164"/>
                </a:solidFill>
                <a:latin typeface="Calibri"/>
              </a:rPr>
              <a:t>›  </a:t>
            </a:r>
            <a:r>
              <a:rPr sz="1250" b="1">
                <a:solidFill>
                  <a:srgbClr val="1C1517"/>
                </a:solidFill>
                <a:latin typeface="Calibri"/>
              </a:rPr>
              <a:t>Keyword-optimize the digital-marketing H1</a:t>
            </a:r>
            <a:r>
              <a:rPr sz="1250">
                <a:solidFill>
                  <a:srgbClr val="6F6265"/>
                </a:solidFill>
                <a:latin typeface="Calibri"/>
              </a:rPr>
              <a:t/>
            </a:r>
          </a:p>
          <a:p>
            <a:pPr>
              <a:lnSpc>
                <a:spcPct val="105000"/>
              </a:lnSpc>
              <a:spcAft>
                <a:spcPts val="900"/>
              </a:spcAft>
            </a:pPr>
            <a:r>
              <a:rPr sz="1250" b="1">
                <a:solidFill>
                  <a:srgbClr val="ED1164"/>
                </a:solidFill>
                <a:latin typeface="Calibri"/>
              </a:rPr>
              <a:t>›  </a:t>
            </a:r>
            <a:r>
              <a:rPr sz="1250" b="1">
                <a:solidFill>
                  <a:srgbClr val="1C1517"/>
                </a:solidFill>
                <a:latin typeface="Calibri"/>
              </a:rPr>
              <a:t>Commit all changes to git </a:t>
            </a:r>
            <a:r>
              <a:rPr sz="1250">
                <a:solidFill>
                  <a:srgbClr val="6F6265"/>
                </a:solidFill>
                <a:latin typeface="Calibri"/>
              </a:rPr>
              <a:t>(prod is ahead of the repo)</a:t>
            </a:r>
          </a:p>
          <a:p>
            <a:pPr>
              <a:lnSpc>
                <a:spcPct val="105000"/>
              </a:lnSpc>
              <a:spcAft>
                <a:spcPts val="900"/>
              </a:spcAft>
            </a:pPr>
            <a:r>
              <a:rPr sz="1250" b="1">
                <a:solidFill>
                  <a:srgbClr val="ED1164"/>
                </a:solidFill>
                <a:latin typeface="Calibri"/>
              </a:rPr>
              <a:t>›  </a:t>
            </a:r>
            <a:r>
              <a:rPr sz="1250" b="1">
                <a:solidFill>
                  <a:srgbClr val="1C1517"/>
                </a:solidFill>
                <a:latin typeface="Calibri"/>
              </a:rPr>
              <a:t>Re-run PageSpeed </a:t>
            </a:r>
            <a:r>
              <a:rPr sz="1250">
                <a:solidFill>
                  <a:srgbClr val="6F6265"/>
                </a:solidFill>
                <a:latin typeface="Calibri"/>
              </a:rPr>
              <a:t>to confirm the mobile LCP win</a:t>
            </a:r>
          </a:p>
        </p:txBody>
      </p:sp>
      <p:sp>
        <p:nvSpPr>
          <p:cNvPr id="7" name="TextBox 6"/>
          <p:cNvSpPr txBox="1"/>
          <p:nvPr/>
        </p:nvSpPr>
        <p:spPr>
          <a:xfrm>
            <a:off x="6172200" y="1737360"/>
            <a:ext cx="5349240" cy="4754880"/>
          </a:xfrm>
          <a:prstGeom prst="rect">
            <a:avLst/>
          </a:prstGeom>
          <a:noFill/>
        </p:spPr>
        <p:txBody>
          <a:bodyPr wrap="square">
            <a:spAutoFit/>
          </a:bodyPr>
          <a:lstStyle/>
          <a:p>
            <a:pPr algn="l">
              <a:lnSpc>
                <a:spcPct val="105000"/>
              </a:lnSpc>
              <a:spcAft>
                <a:spcPts val="900"/>
              </a:spcAft>
            </a:pPr>
            <a:r>
              <a:rPr sz="1500" b="1">
                <a:solidFill>
                  <a:srgbClr val="ED1164"/>
                </a:solidFill>
                <a:latin typeface="Calibri"/>
              </a:rPr>
              <a:t>Growth plays</a:t>
            </a:r>
            <a:r>
              <a:rPr sz="1250" b="1">
                <a:solidFill>
                  <a:srgbClr val="ED1164"/>
                </a:solidFill>
                <a:latin typeface="Calibri"/>
              </a:rPr>
              <a:t>›  </a:t>
            </a:r>
            <a:r>
              <a:rPr sz="1250" b="1">
                <a:solidFill>
                  <a:srgbClr val="1C1517"/>
                </a:solidFill>
                <a:latin typeface="Calibri"/>
              </a:rPr>
              <a:t>Vertical landing pages </a:t>
            </a:r>
            <a:r>
              <a:rPr sz="1250">
                <a:solidFill>
                  <a:srgbClr val="6F6265"/>
                </a:solidFill>
                <a:latin typeface="Calibri"/>
              </a:rPr>
              <a:t>for real clients (dental, ecommerce, construction)</a:t>
            </a:r>
          </a:p>
          <a:p>
            <a:pPr>
              <a:lnSpc>
                <a:spcPct val="105000"/>
              </a:lnSpc>
              <a:spcAft>
                <a:spcPts val="900"/>
              </a:spcAft>
            </a:pPr>
            <a:r>
              <a:rPr sz="1250" b="1">
                <a:solidFill>
                  <a:srgbClr val="ED1164"/>
                </a:solidFill>
                <a:latin typeface="Calibri"/>
              </a:rPr>
              <a:t>›  </a:t>
            </a:r>
            <a:r>
              <a:rPr sz="1250" b="1">
                <a:solidFill>
                  <a:srgbClr val="1C1517"/>
                </a:solidFill>
                <a:latin typeface="Calibri"/>
              </a:rPr>
              <a:t>Comparison guide </a:t>
            </a:r>
            <a:r>
              <a:rPr sz="1250">
                <a:solidFill>
                  <a:srgbClr val="6F6265"/>
                </a:solidFill>
                <a:latin typeface="Calibri"/>
              </a:rPr>
              <a:t>— “staff aug vs BPO vs managed services” (AI-answer bait)</a:t>
            </a:r>
          </a:p>
          <a:p>
            <a:pPr>
              <a:lnSpc>
                <a:spcPct val="105000"/>
              </a:lnSpc>
              <a:spcAft>
                <a:spcPts val="900"/>
              </a:spcAft>
            </a:pPr>
            <a:r>
              <a:rPr sz="1250" b="1">
                <a:solidFill>
                  <a:srgbClr val="ED1164"/>
                </a:solidFill>
                <a:latin typeface="Calibri"/>
              </a:rPr>
              <a:t>›  </a:t>
            </a:r>
            <a:r>
              <a:rPr sz="1250" b="1">
                <a:solidFill>
                  <a:srgbClr val="1C1517"/>
                </a:solidFill>
                <a:latin typeface="Calibri"/>
              </a:rPr>
              <a:t>Pricing / cost guide </a:t>
            </a:r>
            <a:r>
              <a:rPr sz="1250">
                <a:solidFill>
                  <a:srgbClr val="6F6265"/>
                </a:solidFill>
                <a:latin typeface="Calibri"/>
              </a:rPr>
              <a:t>— a genuine differentiator</a:t>
            </a:r>
          </a:p>
          <a:p>
            <a:pPr>
              <a:lnSpc>
                <a:spcPct val="105000"/>
              </a:lnSpc>
              <a:spcAft>
                <a:spcPts val="900"/>
              </a:spcAft>
            </a:pPr>
            <a:r>
              <a:rPr sz="1250" b="1">
                <a:solidFill>
                  <a:srgbClr val="ED1164"/>
                </a:solidFill>
                <a:latin typeface="Calibri"/>
              </a:rPr>
              <a:t>›  </a:t>
            </a:r>
            <a:r>
              <a:rPr sz="1250" b="1">
                <a:solidFill>
                  <a:srgbClr val="1C1517"/>
                </a:solidFill>
                <a:latin typeface="Calibri"/>
              </a:rPr>
              <a:t>Lahore talent-hub page </a:t>
            </a:r>
            <a:r>
              <a:rPr sz="1250">
                <a:solidFill>
                  <a:srgbClr val="6F6265"/>
                </a:solidFill>
                <a:latin typeface="Calibri"/>
              </a:rPr>
              <a:t>— your true differentiator</a:t>
            </a:r>
          </a:p>
          <a:p>
            <a:pPr>
              <a:lnSpc>
                <a:spcPct val="105000"/>
              </a:lnSpc>
              <a:spcAft>
                <a:spcPts val="900"/>
              </a:spcAft>
            </a:pPr>
            <a:r>
              <a:rPr sz="1250" b="1">
                <a:solidFill>
                  <a:srgbClr val="ED1164"/>
                </a:solidFill>
                <a:latin typeface="Calibri"/>
              </a:rPr>
              <a:t>›  </a:t>
            </a:r>
            <a:r>
              <a:rPr sz="1250" b="1">
                <a:solidFill>
                  <a:srgbClr val="1C1517"/>
                </a:solidFill>
                <a:latin typeface="Calibri"/>
              </a:rPr>
              <a:t>Homepage JS code-split </a:t>
            </a:r>
            <a:r>
              <a:rPr sz="1250">
                <a:solidFill>
                  <a:srgbClr val="6F6265"/>
                </a:solidFill>
                <a:latin typeface="Calibri"/>
              </a:rPr>
              <a:t>— last lever for a 90+ mobile score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71113"/>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ED11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93408"/>
            <a:ext cx="12191695" cy="164592"/>
          </a:xfrm>
          <a:prstGeom prst="rect">
            <a:avLst/>
          </a:prstGeom>
          <a:solidFill>
            <a:srgbClr val="ED11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286000"/>
            <a:ext cx="10332720" cy="2377440"/>
          </a:xfrm>
          <a:prstGeom prst="rect">
            <a:avLst/>
          </a:prstGeom>
          <a:noFill/>
        </p:spPr>
        <p:txBody>
          <a:bodyPr wrap="square">
            <a:spAutoFit/>
          </a:bodyPr>
          <a:lstStyle/>
          <a:p>
            <a:pPr algn="l">
              <a:lnSpc>
                <a:spcPct val="100000"/>
              </a:lnSpc>
              <a:spcAft>
                <a:spcPts val="1000"/>
              </a:spcAft>
            </a:pPr>
            <a:r>
              <a:rPr sz="1400" b="1">
                <a:solidFill>
                  <a:srgbClr val="ED1164"/>
                </a:solidFill>
                <a:latin typeface="Calibri"/>
              </a:rPr>
              <a:t>SUMMARY</a:t>
            </a:r>
          </a:p>
          <a:p>
            <a:pPr algn="l">
              <a:lnSpc>
                <a:spcPct val="102000"/>
              </a:lnSpc>
              <a:spcAft>
                <a:spcPts val="400"/>
              </a:spcAft>
            </a:pPr>
            <a:r>
              <a:rPr sz="3000" b="1">
                <a:solidFill>
                  <a:srgbClr val="FFFFFF"/>
                </a:solidFill>
                <a:latin typeface="Calibri"/>
              </a:rPr>
              <a:t>SEO foundations rebuilt, AI-discovery enabled,</a:t>
            </a:r>
          </a:p>
          <a:p>
            <a:pPr algn="l">
              <a:lnSpc>
                <a:spcPct val="102000"/>
              </a:lnSpc>
              <a:spcAft>
                <a:spcPts val="1400"/>
              </a:spcAft>
            </a:pPr>
            <a:r>
              <a:rPr sz="3000" b="1">
                <a:solidFill>
                  <a:srgbClr val="FFFFFF"/>
                </a:solidFill>
                <a:latin typeface="Calibri"/>
              </a:rPr>
              <a:t>and load time cut from 15.9s to ~2.6s.</a:t>
            </a:r>
          </a:p>
          <a:p>
            <a:pPr algn="l">
              <a:lnSpc>
                <a:spcPct val="100000"/>
              </a:lnSpc>
              <a:spcAft>
                <a:spcPts val="400"/>
              </a:spcAft>
            </a:pPr>
            <a:r>
              <a:rPr sz="1500" b="0">
                <a:solidFill>
                  <a:srgbClr val="C9BCC0"/>
                </a:solidFill>
                <a:latin typeface="Calibri"/>
              </a:rPr>
              <a:t>All shipped and live on www.mindwhiz.com.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